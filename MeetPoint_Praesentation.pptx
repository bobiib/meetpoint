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847" autoAdjust="0"/>
  </p:normalViewPr>
  <p:slideViewPr>
    <p:cSldViewPr snapToGrid="0" snapToObjects="1">
      <p:cViewPr varScale="1">
        <p:scale>
          <a:sx n="67" d="100"/>
          <a:sy n="67" d="100"/>
        </p:scale>
        <p:origin x="1267" y="67"/>
      </p:cViewPr>
      <p:guideLst>
        <p:guide orient="horz" pos="2160"/>
        <p:guide pos="2880"/>
      </p:guideLst>
    </p:cSldViewPr>
  </p:slideViewPr>
  <p:notesTextViewPr>
    <p:cViewPr>
      <p:scale>
        <a:sx n="100" d="100"/>
        <a:sy n="100" d="100"/>
      </p:scale>
      <p:origin x="0" y="-427"/>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3726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Guten Tag zusammen und herzlich willkommen zu unserer Abschlusspräsentation für das Modul 306. Wir freuen uns sehr, Ihnen heute unser Abschlussprojekt 'MeetPoint' vorstellen zu dürfen.</a:t>
            </a:r>
          </a:p>
          <a:p>
            <a:endParaRPr/>
          </a:p>
          <a:p>
            <a:r>
              <a:t>Jeder von uns kennt dieses Problem aus dem Alltag: Man möchte sich mit Freunden treffen, einen gemeinsamen Grillabend organisieren, Sport treiben oder die Sommerferien planen. Die Absprache in klassischen Messengern wie WhatsApp endet jedoch meist in einer endlosen Flut von Nachrichten. Details gehen verloren, Terminvorschläge werden überschrieben und am Ende weiss niemand mehr genau, wer zugesagt hat und worauf man sich geeinigt hat.</a:t>
            </a:r>
          </a:p>
          <a:p>
            <a:endParaRPr/>
          </a:p>
          <a:p>
            <a:r>
              <a:t>Genau hier setzt MeetPoint an. Wir haben eine Web-Applikation entwickelt, die dieses 'Chat-Chaos' beseitigt. In den nächsten 12 Minuten möchten wir Ihnen unsere Ausgangslage, die Anforderungen, unsere technische Architektur sowie die grössten Herausforderungen vorstellen. Das Herzstück der Präsentation bildet eine anschliessende Live-Demo, in der wir Ihnen die voll funktionsfähige App zeigen.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Beginnen</a:t>
            </a:r>
            <a:r>
              <a:rPr dirty="0"/>
              <a:t> </a:t>
            </a:r>
            <a:r>
              <a:rPr dirty="0" err="1"/>
              <a:t>wir</a:t>
            </a:r>
            <a:r>
              <a:rPr dirty="0"/>
              <a:t> </a:t>
            </a:r>
            <a:r>
              <a:rPr dirty="0" err="1"/>
              <a:t>mit</a:t>
            </a:r>
            <a:r>
              <a:rPr dirty="0"/>
              <a:t> der </a:t>
            </a:r>
            <a:r>
              <a:rPr dirty="0" err="1"/>
              <a:t>Projektübersicht</a:t>
            </a:r>
            <a:r>
              <a:rPr dirty="0"/>
              <a:t> und </a:t>
            </a:r>
            <a:r>
              <a:rPr dirty="0" err="1"/>
              <a:t>unserer</a:t>
            </a:r>
            <a:r>
              <a:rPr dirty="0"/>
              <a:t> Motivation für </a:t>
            </a:r>
            <a:r>
              <a:rPr dirty="0" err="1"/>
              <a:t>MeetPoint</a:t>
            </a:r>
            <a:r>
              <a:rPr dirty="0"/>
              <a:t>.</a:t>
            </a:r>
          </a:p>
          <a:p>
            <a:endParaRPr dirty="0"/>
          </a:p>
          <a:p>
            <a:r>
              <a:rPr dirty="0"/>
              <a:t>Die </a:t>
            </a:r>
            <a:r>
              <a:rPr dirty="0" err="1"/>
              <a:t>klassische</a:t>
            </a:r>
            <a:r>
              <a:rPr dirty="0"/>
              <a:t> </a:t>
            </a:r>
            <a:r>
              <a:rPr dirty="0" err="1"/>
              <a:t>Terminfindung</a:t>
            </a:r>
            <a:r>
              <a:rPr dirty="0"/>
              <a:t> in </a:t>
            </a:r>
            <a:r>
              <a:rPr dirty="0" err="1"/>
              <a:t>Freundesgruppen</a:t>
            </a:r>
            <a:r>
              <a:rPr dirty="0"/>
              <a:t> </a:t>
            </a:r>
            <a:r>
              <a:rPr dirty="0" err="1"/>
              <a:t>ist</a:t>
            </a:r>
            <a:r>
              <a:rPr dirty="0"/>
              <a:t> </a:t>
            </a:r>
            <a:r>
              <a:rPr dirty="0" err="1"/>
              <a:t>extrem</a:t>
            </a:r>
            <a:r>
              <a:rPr dirty="0"/>
              <a:t> </a:t>
            </a:r>
            <a:r>
              <a:rPr dirty="0" err="1"/>
              <a:t>ineffizient</a:t>
            </a:r>
            <a:r>
              <a:rPr dirty="0"/>
              <a:t>. </a:t>
            </a:r>
            <a:r>
              <a:rPr dirty="0" err="1"/>
              <a:t>Natürlich</a:t>
            </a:r>
            <a:r>
              <a:rPr dirty="0"/>
              <a:t> </a:t>
            </a:r>
            <a:r>
              <a:rPr dirty="0" err="1"/>
              <a:t>existieren</a:t>
            </a:r>
            <a:r>
              <a:rPr dirty="0"/>
              <a:t> </a:t>
            </a:r>
            <a:r>
              <a:rPr dirty="0" err="1"/>
              <a:t>bereits</a:t>
            </a:r>
            <a:r>
              <a:rPr dirty="0"/>
              <a:t> </a:t>
            </a:r>
            <a:r>
              <a:rPr dirty="0" err="1"/>
              <a:t>Hilfsmittel</a:t>
            </a:r>
            <a:r>
              <a:rPr dirty="0"/>
              <a:t>. </a:t>
            </a:r>
            <a:r>
              <a:rPr dirty="0" err="1"/>
              <a:t>Doch</a:t>
            </a:r>
            <a:r>
              <a:rPr dirty="0"/>
              <a:t> </a:t>
            </a:r>
            <a:r>
              <a:rPr dirty="0" err="1"/>
              <a:t>wenn</a:t>
            </a:r>
            <a:r>
              <a:rPr dirty="0"/>
              <a:t> man WhatsApp-</a:t>
            </a:r>
            <a:r>
              <a:rPr dirty="0" err="1"/>
              <a:t>Umfragen</a:t>
            </a:r>
            <a:r>
              <a:rPr dirty="0"/>
              <a:t> </a:t>
            </a:r>
            <a:r>
              <a:rPr dirty="0" err="1"/>
              <a:t>nutzt</a:t>
            </a:r>
            <a:r>
              <a:rPr dirty="0"/>
              <a:t>, </a:t>
            </a:r>
            <a:r>
              <a:rPr dirty="0" err="1"/>
              <a:t>verschwinden</a:t>
            </a:r>
            <a:r>
              <a:rPr dirty="0"/>
              <a:t> </a:t>
            </a:r>
            <a:r>
              <a:rPr dirty="0" err="1"/>
              <a:t>diese</a:t>
            </a:r>
            <a:r>
              <a:rPr dirty="0"/>
              <a:t> </a:t>
            </a:r>
            <a:r>
              <a:rPr dirty="0" err="1"/>
              <a:t>im</a:t>
            </a:r>
            <a:r>
              <a:rPr dirty="0"/>
              <a:t> </a:t>
            </a:r>
            <a:r>
              <a:rPr dirty="0" err="1"/>
              <a:t>Verlauf</a:t>
            </a:r>
            <a:r>
              <a:rPr dirty="0"/>
              <a:t> und man muss </a:t>
            </a:r>
            <a:r>
              <a:rPr dirty="0" err="1"/>
              <a:t>mühsam</a:t>
            </a:r>
            <a:r>
              <a:rPr dirty="0"/>
              <a:t> </a:t>
            </a:r>
            <a:r>
              <a:rPr dirty="0" err="1"/>
              <a:t>hochscrollen</a:t>
            </a:r>
            <a:r>
              <a:rPr dirty="0"/>
              <a:t>. </a:t>
            </a:r>
            <a:r>
              <a:rPr dirty="0" err="1"/>
              <a:t>Verwendet</a:t>
            </a:r>
            <a:r>
              <a:rPr dirty="0"/>
              <a:t> man Doodle, </a:t>
            </a:r>
            <a:r>
              <a:rPr dirty="0" err="1"/>
              <a:t>stört</a:t>
            </a:r>
            <a:r>
              <a:rPr dirty="0"/>
              <a:t> die massive </a:t>
            </a:r>
            <a:r>
              <a:rPr dirty="0" err="1"/>
              <a:t>Werbung</a:t>
            </a:r>
            <a:r>
              <a:rPr dirty="0"/>
              <a:t>, und die </a:t>
            </a:r>
            <a:r>
              <a:rPr dirty="0" err="1"/>
              <a:t>Plattform</a:t>
            </a:r>
            <a:r>
              <a:rPr dirty="0"/>
              <a:t> </a:t>
            </a:r>
            <a:r>
              <a:rPr dirty="0" err="1"/>
              <a:t>ist</a:t>
            </a:r>
            <a:r>
              <a:rPr dirty="0"/>
              <a:t> für </a:t>
            </a:r>
            <a:r>
              <a:rPr dirty="0" err="1"/>
              <a:t>wiederkehrende</a:t>
            </a:r>
            <a:r>
              <a:rPr dirty="0"/>
              <a:t> </a:t>
            </a:r>
            <a:r>
              <a:rPr dirty="0" err="1"/>
              <a:t>Freundesgruppen</a:t>
            </a:r>
            <a:r>
              <a:rPr dirty="0"/>
              <a:t> </a:t>
            </a:r>
            <a:r>
              <a:rPr dirty="0" err="1"/>
              <a:t>viel</a:t>
            </a:r>
            <a:r>
              <a:rPr dirty="0"/>
              <a:t> </a:t>
            </a:r>
            <a:r>
              <a:rPr dirty="0" err="1"/>
              <a:t>zu</a:t>
            </a:r>
            <a:r>
              <a:rPr dirty="0"/>
              <a:t> </a:t>
            </a:r>
            <a:r>
              <a:rPr dirty="0" err="1"/>
              <a:t>unpersönlich</a:t>
            </a:r>
            <a:r>
              <a:rPr dirty="0"/>
              <a:t> und </a:t>
            </a:r>
            <a:r>
              <a:rPr dirty="0" err="1"/>
              <a:t>bietet</a:t>
            </a:r>
            <a:r>
              <a:rPr dirty="0"/>
              <a:t> </a:t>
            </a:r>
            <a:r>
              <a:rPr dirty="0" err="1"/>
              <a:t>keine</a:t>
            </a:r>
            <a:r>
              <a:rPr dirty="0"/>
              <a:t> </a:t>
            </a:r>
            <a:r>
              <a:rPr dirty="0" err="1"/>
              <a:t>Möglichkeit</a:t>
            </a:r>
            <a:r>
              <a:rPr dirty="0"/>
              <a:t>, Gruppen </a:t>
            </a:r>
            <a:r>
              <a:rPr dirty="0" err="1"/>
              <a:t>dauerhaft</a:t>
            </a:r>
            <a:r>
              <a:rPr dirty="0"/>
              <a:t> </a:t>
            </a:r>
            <a:r>
              <a:rPr dirty="0" err="1"/>
              <a:t>zu</a:t>
            </a:r>
            <a:r>
              <a:rPr dirty="0"/>
              <a:t> </a:t>
            </a:r>
            <a:r>
              <a:rPr dirty="0" err="1"/>
              <a:t>speichern</a:t>
            </a:r>
            <a:r>
              <a:rPr dirty="0"/>
              <a:t>.</a:t>
            </a:r>
          </a:p>
          <a:p>
            <a:endParaRPr dirty="0"/>
          </a:p>
          <a:p>
            <a:r>
              <a:rPr dirty="0"/>
              <a:t>Unser </a:t>
            </a:r>
            <a:r>
              <a:rPr dirty="0" err="1"/>
              <a:t>Projektziel</a:t>
            </a:r>
            <a:r>
              <a:rPr dirty="0"/>
              <a:t> war es </a:t>
            </a:r>
            <a:r>
              <a:rPr dirty="0" err="1"/>
              <a:t>daher</a:t>
            </a:r>
            <a:r>
              <a:rPr dirty="0"/>
              <a:t>, </a:t>
            </a:r>
            <a:r>
              <a:rPr dirty="0" err="1"/>
              <a:t>eine</a:t>
            </a:r>
            <a:r>
              <a:rPr dirty="0"/>
              <a:t> </a:t>
            </a:r>
            <a:r>
              <a:rPr dirty="0" err="1"/>
              <a:t>spezialisierte</a:t>
            </a:r>
            <a:r>
              <a:rPr dirty="0"/>
              <a:t> </a:t>
            </a:r>
            <a:r>
              <a:rPr dirty="0" err="1"/>
              <a:t>Komplettlösung</a:t>
            </a:r>
            <a:r>
              <a:rPr dirty="0"/>
              <a:t> </a:t>
            </a:r>
            <a:r>
              <a:rPr dirty="0" err="1"/>
              <a:t>zu</a:t>
            </a:r>
            <a:r>
              <a:rPr dirty="0"/>
              <a:t> </a:t>
            </a:r>
            <a:r>
              <a:rPr dirty="0" err="1"/>
              <a:t>schaffen</a:t>
            </a:r>
            <a:r>
              <a:rPr dirty="0"/>
              <a:t>. In </a:t>
            </a:r>
            <a:r>
              <a:rPr dirty="0" err="1"/>
              <a:t>MeetPoint</a:t>
            </a:r>
            <a:r>
              <a:rPr dirty="0"/>
              <a:t> </a:t>
            </a:r>
            <a:r>
              <a:rPr dirty="0" err="1"/>
              <a:t>ist</a:t>
            </a:r>
            <a:r>
              <a:rPr dirty="0"/>
              <a:t> </a:t>
            </a:r>
            <a:r>
              <a:rPr dirty="0" err="1"/>
              <a:t>jede</a:t>
            </a:r>
            <a:r>
              <a:rPr dirty="0"/>
              <a:t> Gruppe </a:t>
            </a:r>
            <a:r>
              <a:rPr dirty="0" err="1"/>
              <a:t>ein</a:t>
            </a:r>
            <a:r>
              <a:rPr dirty="0"/>
              <a:t> fester Workspace. </a:t>
            </a:r>
            <a:r>
              <a:rPr dirty="0" err="1"/>
              <a:t>Mitglieder</a:t>
            </a:r>
            <a:r>
              <a:rPr dirty="0"/>
              <a:t> </a:t>
            </a:r>
            <a:r>
              <a:rPr dirty="0" err="1"/>
              <a:t>können</a:t>
            </a:r>
            <a:r>
              <a:rPr dirty="0"/>
              <a:t> </a:t>
            </a:r>
            <a:r>
              <a:rPr dirty="0" err="1"/>
              <a:t>ihre</a:t>
            </a:r>
            <a:r>
              <a:rPr dirty="0"/>
              <a:t> </a:t>
            </a:r>
            <a:r>
              <a:rPr dirty="0" err="1"/>
              <a:t>Interessen</a:t>
            </a:r>
            <a:r>
              <a:rPr dirty="0"/>
              <a:t> </a:t>
            </a:r>
            <a:r>
              <a:rPr dirty="0" err="1"/>
              <a:t>angeben</a:t>
            </a:r>
            <a:r>
              <a:rPr dirty="0"/>
              <a:t>, </a:t>
            </a:r>
            <a:r>
              <a:rPr dirty="0" err="1"/>
              <a:t>damit</a:t>
            </a:r>
            <a:r>
              <a:rPr dirty="0"/>
              <a:t> die Gruppe </a:t>
            </a:r>
            <a:r>
              <a:rPr dirty="0" err="1"/>
              <a:t>sofort</a:t>
            </a:r>
            <a:r>
              <a:rPr dirty="0"/>
              <a:t> </a:t>
            </a:r>
            <a:r>
              <a:rPr dirty="0" err="1"/>
              <a:t>sieht</a:t>
            </a:r>
            <a:r>
              <a:rPr dirty="0"/>
              <a:t>, </a:t>
            </a:r>
            <a:r>
              <a:rPr dirty="0" err="1"/>
              <a:t>welche</a:t>
            </a:r>
            <a:r>
              <a:rPr dirty="0"/>
              <a:t> </a:t>
            </a:r>
            <a:r>
              <a:rPr dirty="0" err="1"/>
              <a:t>Aktivitäten</a:t>
            </a:r>
            <a:r>
              <a:rPr dirty="0"/>
              <a:t> </a:t>
            </a:r>
            <a:r>
              <a:rPr dirty="0" err="1"/>
              <a:t>überhaupt</a:t>
            </a:r>
            <a:r>
              <a:rPr dirty="0"/>
              <a:t> Sinn </a:t>
            </a:r>
            <a:r>
              <a:rPr dirty="0" err="1"/>
              <a:t>machen</a:t>
            </a:r>
            <a:r>
              <a:rPr dirty="0"/>
              <a:t>. Das Kern-Feature </a:t>
            </a:r>
            <a:r>
              <a:rPr dirty="0" err="1"/>
              <a:t>ist</a:t>
            </a:r>
            <a:r>
              <a:rPr dirty="0"/>
              <a:t> </a:t>
            </a:r>
            <a:r>
              <a:rPr dirty="0" err="1"/>
              <a:t>unser</a:t>
            </a:r>
            <a:r>
              <a:rPr dirty="0"/>
              <a:t> </a:t>
            </a:r>
            <a:r>
              <a:rPr dirty="0" err="1"/>
              <a:t>Abstimmungssystem</a:t>
            </a:r>
            <a:r>
              <a:rPr dirty="0"/>
              <a:t>: </a:t>
            </a:r>
            <a:r>
              <a:rPr dirty="0" err="1"/>
              <a:t>Sobald</a:t>
            </a:r>
            <a:r>
              <a:rPr dirty="0"/>
              <a:t> </a:t>
            </a:r>
            <a:r>
              <a:rPr dirty="0" err="1"/>
              <a:t>eine</a:t>
            </a:r>
            <a:r>
              <a:rPr dirty="0"/>
              <a:t> </a:t>
            </a:r>
            <a:r>
              <a:rPr dirty="0" err="1"/>
              <a:t>Aktivität</a:t>
            </a:r>
            <a:r>
              <a:rPr dirty="0"/>
              <a:t> </a:t>
            </a:r>
            <a:r>
              <a:rPr dirty="0" err="1"/>
              <a:t>erstellt</a:t>
            </a:r>
            <a:r>
              <a:rPr dirty="0"/>
              <a:t> </a:t>
            </a:r>
            <a:r>
              <a:rPr dirty="0" err="1"/>
              <a:t>wird</a:t>
            </a:r>
            <a:r>
              <a:rPr dirty="0"/>
              <a:t>, </a:t>
            </a:r>
            <a:r>
              <a:rPr dirty="0" err="1"/>
              <a:t>können</a:t>
            </a:r>
            <a:r>
              <a:rPr dirty="0"/>
              <a:t> </a:t>
            </a:r>
            <a:r>
              <a:rPr dirty="0" err="1"/>
              <a:t>mehrere</a:t>
            </a:r>
            <a:r>
              <a:rPr dirty="0"/>
              <a:t> Termine </a:t>
            </a:r>
            <a:r>
              <a:rPr dirty="0" err="1"/>
              <a:t>vorgeschlagen</a:t>
            </a:r>
            <a:r>
              <a:rPr dirty="0"/>
              <a:t> </a:t>
            </a:r>
            <a:r>
              <a:rPr dirty="0" err="1"/>
              <a:t>werden</a:t>
            </a:r>
            <a:r>
              <a:rPr dirty="0"/>
              <a:t>. Die </a:t>
            </a:r>
            <a:r>
              <a:rPr dirty="0" err="1"/>
              <a:t>Gruppenmitglieder</a:t>
            </a:r>
            <a:r>
              <a:rPr dirty="0"/>
              <a:t> </a:t>
            </a:r>
            <a:r>
              <a:rPr dirty="0" err="1"/>
              <a:t>stimmen</a:t>
            </a:r>
            <a:r>
              <a:rPr dirty="0"/>
              <a:t> ab, und das System </a:t>
            </a:r>
            <a:r>
              <a:rPr dirty="0" err="1"/>
              <a:t>berechnet</a:t>
            </a:r>
            <a:r>
              <a:rPr dirty="0"/>
              <a:t> live und </a:t>
            </a:r>
            <a:r>
              <a:rPr dirty="0" err="1"/>
              <a:t>dynamisch</a:t>
            </a:r>
            <a:r>
              <a:rPr dirty="0"/>
              <a:t>, </a:t>
            </a:r>
            <a:r>
              <a:rPr dirty="0" err="1"/>
              <a:t>welcher</a:t>
            </a:r>
            <a:r>
              <a:rPr dirty="0"/>
              <a:t> Termin die </a:t>
            </a:r>
            <a:r>
              <a:rPr dirty="0" err="1"/>
              <a:t>maximale</a:t>
            </a:r>
            <a:r>
              <a:rPr dirty="0"/>
              <a:t> </a:t>
            </a:r>
            <a:r>
              <a:rPr dirty="0" err="1"/>
              <a:t>Zustimmung</a:t>
            </a:r>
            <a:r>
              <a:rPr dirty="0"/>
              <a:t> hat. Das </a:t>
            </a:r>
            <a:r>
              <a:rPr dirty="0" err="1"/>
              <a:t>verkürzt</a:t>
            </a:r>
            <a:r>
              <a:rPr dirty="0"/>
              <a:t> die </a:t>
            </a:r>
            <a:r>
              <a:rPr dirty="0" err="1"/>
              <a:t>Planung</a:t>
            </a:r>
            <a:r>
              <a:rPr dirty="0"/>
              <a:t> von Tagen auf </a:t>
            </a:r>
            <a:r>
              <a:rPr dirty="0" err="1"/>
              <a:t>wenige</a:t>
            </a:r>
            <a:r>
              <a:rPr dirty="0"/>
              <a:t> </a:t>
            </a:r>
            <a:r>
              <a:rPr dirty="0" err="1"/>
              <a:t>Sekunden</a:t>
            </a:r>
            <a:r>
              <a:rPr dirty="0"/>
              <a:t> und </a:t>
            </a:r>
            <a:r>
              <a:rPr dirty="0" err="1"/>
              <a:t>schafft</a:t>
            </a:r>
            <a:r>
              <a:rPr dirty="0"/>
              <a:t> absolute </a:t>
            </a:r>
            <a:r>
              <a:rPr dirty="0" err="1"/>
              <a:t>Klarheit</a:t>
            </a:r>
            <a:r>
              <a:rPr dirty="0"/>
              <a:t> für alle </a:t>
            </a:r>
            <a:r>
              <a:rPr dirty="0" err="1"/>
              <a:t>Beteiligten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Für die </a:t>
            </a:r>
            <a:r>
              <a:rPr dirty="0" err="1"/>
              <a:t>technische</a:t>
            </a:r>
            <a:r>
              <a:rPr dirty="0"/>
              <a:t> </a:t>
            </a:r>
            <a:r>
              <a:rPr dirty="0" err="1"/>
              <a:t>Umsetzung</a:t>
            </a:r>
            <a:r>
              <a:rPr dirty="0"/>
              <a:t> </a:t>
            </a:r>
            <a:r>
              <a:rPr dirty="0" err="1"/>
              <a:t>haben</a:t>
            </a:r>
            <a:r>
              <a:rPr dirty="0"/>
              <a:t> </a:t>
            </a:r>
            <a:r>
              <a:rPr dirty="0" err="1"/>
              <a:t>wir</a:t>
            </a:r>
            <a:r>
              <a:rPr dirty="0"/>
              <a:t> </a:t>
            </a:r>
            <a:r>
              <a:rPr dirty="0" err="1"/>
              <a:t>uns</a:t>
            </a:r>
            <a:r>
              <a:rPr dirty="0"/>
              <a:t> </a:t>
            </a:r>
            <a:r>
              <a:rPr dirty="0" err="1"/>
              <a:t>im</a:t>
            </a:r>
            <a:r>
              <a:rPr dirty="0"/>
              <a:t> Vorfeld </a:t>
            </a:r>
            <a:r>
              <a:rPr dirty="0" err="1"/>
              <a:t>intensiv</a:t>
            </a:r>
            <a:r>
              <a:rPr dirty="0"/>
              <a:t> </a:t>
            </a:r>
            <a:r>
              <a:rPr dirty="0" err="1"/>
              <a:t>mit</a:t>
            </a:r>
            <a:r>
              <a:rPr dirty="0"/>
              <a:t> der </a:t>
            </a:r>
            <a:r>
              <a:rPr dirty="0" err="1"/>
              <a:t>Architektur</a:t>
            </a:r>
            <a:r>
              <a:rPr dirty="0"/>
              <a:t> und den </a:t>
            </a:r>
            <a:r>
              <a:rPr dirty="0" err="1"/>
              <a:t>Anforderungen</a:t>
            </a:r>
            <a:r>
              <a:rPr dirty="0"/>
              <a:t> </a:t>
            </a:r>
            <a:r>
              <a:rPr dirty="0" err="1"/>
              <a:t>auseinandergesetzt</a:t>
            </a:r>
            <a:r>
              <a:rPr dirty="0"/>
              <a:t>.</a:t>
            </a:r>
          </a:p>
          <a:p>
            <a:endParaRPr dirty="0"/>
          </a:p>
          <a:p>
            <a:r>
              <a:rPr dirty="0"/>
              <a:t>Bei den </a:t>
            </a:r>
            <a:r>
              <a:rPr dirty="0" err="1"/>
              <a:t>funktionalen</a:t>
            </a:r>
            <a:r>
              <a:rPr dirty="0"/>
              <a:t> </a:t>
            </a:r>
            <a:r>
              <a:rPr dirty="0" err="1"/>
              <a:t>Anforderungen</a:t>
            </a:r>
            <a:r>
              <a:rPr dirty="0"/>
              <a:t> war </a:t>
            </a:r>
            <a:r>
              <a:rPr dirty="0" err="1"/>
              <a:t>uns</a:t>
            </a:r>
            <a:r>
              <a:rPr dirty="0"/>
              <a:t> </a:t>
            </a:r>
            <a:r>
              <a:rPr dirty="0" err="1"/>
              <a:t>wichtig</a:t>
            </a:r>
            <a:r>
              <a:rPr dirty="0"/>
              <a:t>, </a:t>
            </a:r>
            <a:r>
              <a:rPr dirty="0" err="1"/>
              <a:t>dass</a:t>
            </a:r>
            <a:r>
              <a:rPr dirty="0"/>
              <a:t> die App </a:t>
            </a:r>
            <a:r>
              <a:rPr dirty="0" err="1"/>
              <a:t>absolut</a:t>
            </a:r>
            <a:r>
              <a:rPr dirty="0"/>
              <a:t> </a:t>
            </a:r>
            <a:r>
              <a:rPr dirty="0" err="1"/>
              <a:t>dynamisch</a:t>
            </a:r>
            <a:r>
              <a:rPr dirty="0"/>
              <a:t> </a:t>
            </a:r>
            <a:r>
              <a:rPr dirty="0" err="1"/>
              <a:t>wirkt</a:t>
            </a:r>
            <a:r>
              <a:rPr dirty="0"/>
              <a:t>. Wenn </a:t>
            </a:r>
            <a:r>
              <a:rPr dirty="0" err="1"/>
              <a:t>ein</a:t>
            </a:r>
            <a:r>
              <a:rPr dirty="0"/>
              <a:t> </a:t>
            </a:r>
            <a:r>
              <a:rPr dirty="0" err="1"/>
              <a:t>Benutzer</a:t>
            </a:r>
            <a:r>
              <a:rPr dirty="0"/>
              <a:t> seine </a:t>
            </a:r>
            <a:r>
              <a:rPr dirty="0" err="1"/>
              <a:t>Stimme</a:t>
            </a:r>
            <a:r>
              <a:rPr dirty="0"/>
              <a:t> </a:t>
            </a:r>
            <a:r>
              <a:rPr dirty="0" err="1"/>
              <a:t>abgibt</a:t>
            </a:r>
            <a:r>
              <a:rPr dirty="0"/>
              <a:t>, </a:t>
            </a:r>
            <a:r>
              <a:rPr dirty="0" err="1"/>
              <a:t>darf</a:t>
            </a:r>
            <a:r>
              <a:rPr dirty="0"/>
              <a:t> die </a:t>
            </a:r>
            <a:r>
              <a:rPr dirty="0" err="1"/>
              <a:t>Seite</a:t>
            </a:r>
            <a:r>
              <a:rPr dirty="0"/>
              <a:t> nicht neu laden </a:t>
            </a:r>
            <a:r>
              <a:rPr dirty="0" err="1"/>
              <a:t>müssen</a:t>
            </a:r>
            <a:r>
              <a:rPr dirty="0"/>
              <a:t> – der </a:t>
            </a:r>
            <a:r>
              <a:rPr dirty="0" err="1"/>
              <a:t>Daumen-Zähler</a:t>
            </a:r>
            <a:r>
              <a:rPr dirty="0"/>
              <a:t> und der Gewinner-Termin </a:t>
            </a:r>
            <a:r>
              <a:rPr dirty="0" err="1"/>
              <a:t>müssen</a:t>
            </a:r>
            <a:r>
              <a:rPr dirty="0"/>
              <a:t> </a:t>
            </a:r>
            <a:r>
              <a:rPr dirty="0" err="1"/>
              <a:t>sich</a:t>
            </a:r>
            <a:r>
              <a:rPr dirty="0"/>
              <a:t> </a:t>
            </a:r>
            <a:r>
              <a:rPr dirty="0" err="1"/>
              <a:t>sofort</a:t>
            </a:r>
            <a:r>
              <a:rPr dirty="0"/>
              <a:t> </a:t>
            </a:r>
            <a:r>
              <a:rPr dirty="0" err="1"/>
              <a:t>aktualisieren</a:t>
            </a:r>
            <a:r>
              <a:rPr dirty="0"/>
              <a:t>. </a:t>
            </a:r>
            <a:r>
              <a:rPr dirty="0" err="1"/>
              <a:t>Ausserdem</a:t>
            </a:r>
            <a:r>
              <a:rPr dirty="0"/>
              <a:t> </a:t>
            </a:r>
            <a:r>
              <a:rPr dirty="0" err="1"/>
              <a:t>wollten</a:t>
            </a:r>
            <a:r>
              <a:rPr dirty="0"/>
              <a:t> </a:t>
            </a:r>
            <a:r>
              <a:rPr dirty="0" err="1"/>
              <a:t>wir</a:t>
            </a:r>
            <a:r>
              <a:rPr dirty="0"/>
              <a:t> </a:t>
            </a:r>
            <a:r>
              <a:rPr dirty="0" err="1"/>
              <a:t>ein</a:t>
            </a:r>
            <a:r>
              <a:rPr dirty="0"/>
              <a:t> premium-</a:t>
            </a:r>
            <a:r>
              <a:rPr dirty="0" err="1"/>
              <a:t>ähnliches</a:t>
            </a:r>
            <a:r>
              <a:rPr dirty="0"/>
              <a:t> Design, </a:t>
            </a:r>
            <a:r>
              <a:rPr dirty="0" err="1"/>
              <a:t>weshalb</a:t>
            </a:r>
            <a:r>
              <a:rPr dirty="0"/>
              <a:t> </a:t>
            </a:r>
            <a:r>
              <a:rPr dirty="0" err="1"/>
              <a:t>wir</a:t>
            </a:r>
            <a:r>
              <a:rPr dirty="0"/>
              <a:t> </a:t>
            </a:r>
            <a:r>
              <a:rPr dirty="0" err="1"/>
              <a:t>uns</a:t>
            </a:r>
            <a:r>
              <a:rPr dirty="0"/>
              <a:t> für </a:t>
            </a:r>
            <a:r>
              <a:rPr dirty="0" err="1"/>
              <a:t>ein</a:t>
            </a:r>
            <a:r>
              <a:rPr dirty="0"/>
              <a:t> </a:t>
            </a:r>
            <a:r>
              <a:rPr dirty="0" err="1"/>
              <a:t>modernes</a:t>
            </a:r>
            <a:r>
              <a:rPr dirty="0"/>
              <a:t> Dark-Theme </a:t>
            </a:r>
            <a:r>
              <a:rPr dirty="0" err="1"/>
              <a:t>mit</a:t>
            </a:r>
            <a:r>
              <a:rPr dirty="0"/>
              <a:t> </a:t>
            </a:r>
            <a:r>
              <a:rPr dirty="0" err="1"/>
              <a:t>transparenten</a:t>
            </a:r>
            <a:r>
              <a:rPr dirty="0"/>
              <a:t> '</a:t>
            </a:r>
            <a:r>
              <a:rPr dirty="0" err="1"/>
              <a:t>Glassmorphism</a:t>
            </a:r>
            <a:r>
              <a:rPr dirty="0"/>
              <a:t>'-</a:t>
            </a:r>
            <a:r>
              <a:rPr dirty="0" err="1"/>
              <a:t>Elementen</a:t>
            </a:r>
            <a:r>
              <a:rPr dirty="0"/>
              <a:t> </a:t>
            </a:r>
            <a:r>
              <a:rPr dirty="0" err="1"/>
              <a:t>entschieden</a:t>
            </a:r>
            <a:r>
              <a:rPr dirty="0"/>
              <a:t> </a:t>
            </a:r>
            <a:r>
              <a:rPr dirty="0" err="1"/>
              <a:t>haben</a:t>
            </a:r>
            <a:r>
              <a:rPr dirty="0"/>
              <a:t>.</a:t>
            </a:r>
          </a:p>
          <a:p>
            <a:endParaRPr dirty="0"/>
          </a:p>
          <a:p>
            <a:r>
              <a:rPr dirty="0"/>
              <a:t>In der </a:t>
            </a:r>
            <a:r>
              <a:rPr dirty="0" err="1"/>
              <a:t>Architektur</a:t>
            </a:r>
            <a:r>
              <a:rPr dirty="0"/>
              <a:t> </a:t>
            </a:r>
            <a:r>
              <a:rPr dirty="0" err="1"/>
              <a:t>haben</a:t>
            </a:r>
            <a:r>
              <a:rPr dirty="0"/>
              <a:t> </a:t>
            </a:r>
            <a:r>
              <a:rPr dirty="0" err="1"/>
              <a:t>wir</a:t>
            </a:r>
            <a:r>
              <a:rPr dirty="0"/>
              <a:t> </a:t>
            </a:r>
            <a:r>
              <a:rPr dirty="0" err="1"/>
              <a:t>eine</a:t>
            </a:r>
            <a:r>
              <a:rPr dirty="0"/>
              <a:t> </a:t>
            </a:r>
            <a:r>
              <a:rPr dirty="0" err="1"/>
              <a:t>klare</a:t>
            </a:r>
            <a:r>
              <a:rPr dirty="0"/>
              <a:t> </a:t>
            </a:r>
            <a:r>
              <a:rPr dirty="0" err="1"/>
              <a:t>Trennung</a:t>
            </a:r>
            <a:r>
              <a:rPr dirty="0"/>
              <a:t> </a:t>
            </a:r>
            <a:r>
              <a:rPr dirty="0" err="1"/>
              <a:t>vollzogen</a:t>
            </a:r>
            <a:r>
              <a:rPr dirty="0"/>
              <a:t>. </a:t>
            </a:r>
            <a:r>
              <a:rPr dirty="0" err="1"/>
              <a:t>Im</a:t>
            </a:r>
            <a:r>
              <a:rPr dirty="0"/>
              <a:t> Frontend </a:t>
            </a:r>
            <a:r>
              <a:rPr dirty="0" err="1"/>
              <a:t>nutzen</a:t>
            </a:r>
            <a:r>
              <a:rPr dirty="0"/>
              <a:t> </a:t>
            </a:r>
            <a:r>
              <a:rPr dirty="0" err="1"/>
              <a:t>wir</a:t>
            </a:r>
            <a:r>
              <a:rPr dirty="0"/>
              <a:t> Vue 3 </a:t>
            </a:r>
            <a:r>
              <a:rPr dirty="0" err="1"/>
              <a:t>mit</a:t>
            </a:r>
            <a:r>
              <a:rPr dirty="0"/>
              <a:t> TypeScript. Vue </a:t>
            </a:r>
            <a:r>
              <a:rPr dirty="0" err="1"/>
              <a:t>bietet</a:t>
            </a:r>
            <a:r>
              <a:rPr dirty="0"/>
              <a:t> </a:t>
            </a:r>
            <a:r>
              <a:rPr dirty="0" err="1"/>
              <a:t>uns</a:t>
            </a:r>
            <a:r>
              <a:rPr dirty="0"/>
              <a:t> </a:t>
            </a:r>
            <a:r>
              <a:rPr dirty="0" err="1"/>
              <a:t>eine</a:t>
            </a:r>
            <a:r>
              <a:rPr dirty="0"/>
              <a:t> </a:t>
            </a:r>
            <a:r>
              <a:rPr dirty="0" err="1"/>
              <a:t>reaktive</a:t>
            </a:r>
            <a:r>
              <a:rPr dirty="0"/>
              <a:t> </a:t>
            </a:r>
            <a:r>
              <a:rPr dirty="0" err="1"/>
              <a:t>Datenbindung</a:t>
            </a:r>
            <a:r>
              <a:rPr dirty="0"/>
              <a:t> und </a:t>
            </a:r>
            <a:r>
              <a:rPr dirty="0" err="1"/>
              <a:t>eine</a:t>
            </a:r>
            <a:r>
              <a:rPr dirty="0"/>
              <a:t> </a:t>
            </a:r>
            <a:r>
              <a:rPr dirty="0" err="1"/>
              <a:t>saubere</a:t>
            </a:r>
            <a:r>
              <a:rPr dirty="0"/>
              <a:t> </a:t>
            </a:r>
            <a:r>
              <a:rPr dirty="0" err="1"/>
              <a:t>Strukturierung</a:t>
            </a:r>
            <a:r>
              <a:rPr dirty="0"/>
              <a:t> in </a:t>
            </a:r>
            <a:r>
              <a:rPr dirty="0" err="1"/>
              <a:t>wiederverwendbare</a:t>
            </a:r>
            <a:r>
              <a:rPr dirty="0"/>
              <a:t> UI-</a:t>
            </a:r>
            <a:r>
              <a:rPr dirty="0" err="1"/>
              <a:t>Komponenten</a:t>
            </a:r>
            <a:r>
              <a:rPr dirty="0"/>
              <a:t>. </a:t>
            </a:r>
            <a:r>
              <a:rPr dirty="0" err="1"/>
              <a:t>Im</a:t>
            </a:r>
            <a:r>
              <a:rPr dirty="0"/>
              <a:t> Backend </a:t>
            </a:r>
            <a:r>
              <a:rPr dirty="0" err="1"/>
              <a:t>setzen</a:t>
            </a:r>
            <a:r>
              <a:rPr dirty="0"/>
              <a:t> </a:t>
            </a:r>
            <a:r>
              <a:rPr dirty="0" err="1"/>
              <a:t>wir</a:t>
            </a:r>
            <a:r>
              <a:rPr dirty="0"/>
              <a:t> auf </a:t>
            </a:r>
            <a:r>
              <a:rPr dirty="0" err="1"/>
              <a:t>eine</a:t>
            </a:r>
            <a:r>
              <a:rPr dirty="0"/>
              <a:t> PostgreSQL-</a:t>
            </a:r>
            <a:r>
              <a:rPr dirty="0" err="1"/>
              <a:t>Datenbank</a:t>
            </a:r>
            <a:r>
              <a:rPr dirty="0"/>
              <a:t>. Um nicht </a:t>
            </a:r>
            <a:r>
              <a:rPr dirty="0" err="1"/>
              <a:t>wochenlang</a:t>
            </a:r>
            <a:r>
              <a:rPr dirty="0"/>
              <a:t> </a:t>
            </a:r>
            <a:r>
              <a:rPr dirty="0" err="1"/>
              <a:t>ein</a:t>
            </a:r>
            <a:r>
              <a:rPr dirty="0"/>
              <a:t> </a:t>
            </a:r>
            <a:r>
              <a:rPr dirty="0" err="1"/>
              <a:t>eigenes</a:t>
            </a:r>
            <a:r>
              <a:rPr dirty="0"/>
              <a:t> Backend-API-Projekt in Node.js </a:t>
            </a:r>
            <a:r>
              <a:rPr dirty="0" err="1"/>
              <a:t>oder</a:t>
            </a:r>
            <a:r>
              <a:rPr dirty="0"/>
              <a:t> C# </a:t>
            </a:r>
            <a:r>
              <a:rPr dirty="0" err="1"/>
              <a:t>schreiben</a:t>
            </a:r>
            <a:r>
              <a:rPr dirty="0"/>
              <a:t> </a:t>
            </a:r>
            <a:r>
              <a:rPr dirty="0" err="1"/>
              <a:t>zu</a:t>
            </a:r>
            <a:r>
              <a:rPr dirty="0"/>
              <a:t> </a:t>
            </a:r>
            <a:r>
              <a:rPr dirty="0" err="1"/>
              <a:t>müssen</a:t>
            </a:r>
            <a:r>
              <a:rPr dirty="0"/>
              <a:t>, </a:t>
            </a:r>
            <a:r>
              <a:rPr dirty="0" err="1"/>
              <a:t>haben</a:t>
            </a:r>
            <a:r>
              <a:rPr dirty="0"/>
              <a:t> </a:t>
            </a:r>
            <a:r>
              <a:rPr dirty="0" err="1"/>
              <a:t>wir</a:t>
            </a:r>
            <a:r>
              <a:rPr dirty="0"/>
              <a:t> </a:t>
            </a:r>
            <a:r>
              <a:rPr dirty="0" err="1"/>
              <a:t>PostgREST</a:t>
            </a:r>
            <a:r>
              <a:rPr dirty="0"/>
              <a:t> </a:t>
            </a:r>
            <a:r>
              <a:rPr dirty="0" err="1"/>
              <a:t>gewählt</a:t>
            </a:r>
            <a:r>
              <a:rPr dirty="0"/>
              <a:t>. </a:t>
            </a:r>
            <a:r>
              <a:rPr dirty="0" err="1"/>
              <a:t>PostgREST</a:t>
            </a:r>
            <a:r>
              <a:rPr dirty="0"/>
              <a:t> </a:t>
            </a:r>
            <a:r>
              <a:rPr dirty="0" err="1"/>
              <a:t>läuft</a:t>
            </a:r>
            <a:r>
              <a:rPr dirty="0"/>
              <a:t> in </a:t>
            </a:r>
            <a:r>
              <a:rPr dirty="0" err="1"/>
              <a:t>einem</a:t>
            </a:r>
            <a:r>
              <a:rPr dirty="0"/>
              <a:t> Docker-Container und </a:t>
            </a:r>
            <a:r>
              <a:rPr dirty="0" err="1"/>
              <a:t>stellt</a:t>
            </a:r>
            <a:r>
              <a:rPr dirty="0"/>
              <a:t> </a:t>
            </a:r>
            <a:r>
              <a:rPr dirty="0" err="1"/>
              <a:t>uns</a:t>
            </a:r>
            <a:r>
              <a:rPr dirty="0"/>
              <a:t> </a:t>
            </a:r>
            <a:r>
              <a:rPr dirty="0" err="1"/>
              <a:t>automatisch</a:t>
            </a:r>
            <a:r>
              <a:rPr dirty="0"/>
              <a:t> </a:t>
            </a:r>
            <a:r>
              <a:rPr dirty="0" err="1"/>
              <a:t>eine</a:t>
            </a:r>
            <a:r>
              <a:rPr dirty="0"/>
              <a:t> REST-API auf Basis </a:t>
            </a:r>
            <a:r>
              <a:rPr dirty="0" err="1"/>
              <a:t>unserer</a:t>
            </a:r>
            <a:r>
              <a:rPr dirty="0"/>
              <a:t> </a:t>
            </a:r>
            <a:r>
              <a:rPr dirty="0" err="1"/>
              <a:t>Datenbanktabellen</a:t>
            </a:r>
            <a:r>
              <a:rPr dirty="0"/>
              <a:t> </a:t>
            </a:r>
            <a:r>
              <a:rPr dirty="0" err="1"/>
              <a:t>zur</a:t>
            </a:r>
            <a:r>
              <a:rPr dirty="0"/>
              <a:t> </a:t>
            </a:r>
            <a:r>
              <a:rPr dirty="0" err="1"/>
              <a:t>Verfügung</a:t>
            </a:r>
            <a:r>
              <a:rPr dirty="0"/>
              <a:t>. </a:t>
            </a:r>
            <a:r>
              <a:rPr dirty="0" err="1"/>
              <a:t>Jede</a:t>
            </a:r>
            <a:r>
              <a:rPr dirty="0"/>
              <a:t> </a:t>
            </a:r>
            <a:r>
              <a:rPr dirty="0" err="1"/>
              <a:t>Tabellenänderung</a:t>
            </a:r>
            <a:r>
              <a:rPr dirty="0"/>
              <a:t> </a:t>
            </a:r>
            <a:r>
              <a:rPr dirty="0" err="1"/>
              <a:t>spiegelt</a:t>
            </a:r>
            <a:r>
              <a:rPr dirty="0"/>
              <a:t> </a:t>
            </a:r>
            <a:r>
              <a:rPr dirty="0" err="1"/>
              <a:t>sich</a:t>
            </a:r>
            <a:r>
              <a:rPr dirty="0"/>
              <a:t> </a:t>
            </a:r>
            <a:r>
              <a:rPr dirty="0" err="1"/>
              <a:t>sofort</a:t>
            </a:r>
            <a:r>
              <a:rPr dirty="0"/>
              <a:t> in der API wider. Das hat </a:t>
            </a:r>
            <a:r>
              <a:rPr dirty="0" err="1"/>
              <a:t>uns</a:t>
            </a:r>
            <a:r>
              <a:rPr dirty="0"/>
              <a:t> </a:t>
            </a:r>
            <a:r>
              <a:rPr dirty="0" err="1"/>
              <a:t>enorm</a:t>
            </a:r>
            <a:r>
              <a:rPr dirty="0"/>
              <a:t> </a:t>
            </a:r>
            <a:r>
              <a:rPr dirty="0" err="1"/>
              <a:t>viel</a:t>
            </a:r>
            <a:r>
              <a:rPr dirty="0"/>
              <a:t> </a:t>
            </a:r>
            <a:r>
              <a:rPr dirty="0" err="1"/>
              <a:t>Entwicklungszeit</a:t>
            </a:r>
            <a:r>
              <a:rPr dirty="0"/>
              <a:t> </a:t>
            </a:r>
            <a:r>
              <a:rPr dirty="0" err="1"/>
              <a:t>gespart</a:t>
            </a:r>
            <a:r>
              <a:rPr dirty="0"/>
              <a:t>, die </a:t>
            </a:r>
            <a:r>
              <a:rPr dirty="0" err="1"/>
              <a:t>wir</a:t>
            </a:r>
            <a:r>
              <a:rPr dirty="0"/>
              <a:t> </a:t>
            </a:r>
            <a:r>
              <a:rPr dirty="0" err="1"/>
              <a:t>stattdessen</a:t>
            </a:r>
            <a:r>
              <a:rPr dirty="0"/>
              <a:t> in die </a:t>
            </a:r>
            <a:r>
              <a:rPr dirty="0" err="1"/>
              <a:t>Verfeinerung</a:t>
            </a:r>
            <a:r>
              <a:rPr dirty="0"/>
              <a:t> des Frontends </a:t>
            </a:r>
            <a:r>
              <a:rPr dirty="0" err="1"/>
              <a:t>investieren</a:t>
            </a:r>
            <a:r>
              <a:rPr dirty="0"/>
              <a:t> </a:t>
            </a:r>
            <a:r>
              <a:rPr dirty="0" err="1"/>
              <a:t>konnten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Die </a:t>
            </a:r>
            <a:r>
              <a:rPr dirty="0" err="1"/>
              <a:t>grösste</a:t>
            </a:r>
            <a:r>
              <a:rPr dirty="0"/>
              <a:t> </a:t>
            </a:r>
            <a:r>
              <a:rPr dirty="0" err="1"/>
              <a:t>technische</a:t>
            </a:r>
            <a:r>
              <a:rPr dirty="0"/>
              <a:t> </a:t>
            </a:r>
            <a:r>
              <a:rPr dirty="0" err="1"/>
              <a:t>Herausforderung</a:t>
            </a:r>
            <a:r>
              <a:rPr dirty="0"/>
              <a:t> </a:t>
            </a:r>
            <a:r>
              <a:rPr dirty="0" err="1"/>
              <a:t>bei</a:t>
            </a:r>
            <a:r>
              <a:rPr dirty="0"/>
              <a:t> </a:t>
            </a:r>
            <a:r>
              <a:rPr dirty="0" err="1"/>
              <a:t>diesem</a:t>
            </a:r>
            <a:r>
              <a:rPr dirty="0"/>
              <a:t> Projekt war das </a:t>
            </a:r>
            <a:r>
              <a:rPr dirty="0" err="1"/>
              <a:t>Sicherheits</a:t>
            </a:r>
            <a:r>
              <a:rPr dirty="0"/>
              <a:t>- und </a:t>
            </a:r>
            <a:r>
              <a:rPr dirty="0" err="1"/>
              <a:t>Berechtigungskonzept</a:t>
            </a:r>
            <a:r>
              <a:rPr dirty="0"/>
              <a:t>.</a:t>
            </a:r>
          </a:p>
          <a:p>
            <a:endParaRPr dirty="0"/>
          </a:p>
          <a:p>
            <a:r>
              <a:rPr dirty="0"/>
              <a:t>Da </a:t>
            </a:r>
            <a:r>
              <a:rPr dirty="0" err="1"/>
              <a:t>wir</a:t>
            </a:r>
            <a:r>
              <a:rPr dirty="0"/>
              <a:t> für das </a:t>
            </a:r>
            <a:r>
              <a:rPr dirty="0" err="1"/>
              <a:t>gesamte</a:t>
            </a:r>
            <a:r>
              <a:rPr dirty="0"/>
              <a:t> Projekt </a:t>
            </a:r>
            <a:r>
              <a:rPr dirty="0" err="1"/>
              <a:t>nur</a:t>
            </a:r>
            <a:r>
              <a:rPr dirty="0"/>
              <a:t> </a:t>
            </a:r>
            <a:r>
              <a:rPr dirty="0" err="1"/>
              <a:t>wenig</a:t>
            </a:r>
            <a:r>
              <a:rPr dirty="0"/>
              <a:t> Zeit </a:t>
            </a:r>
            <a:r>
              <a:rPr dirty="0" err="1"/>
              <a:t>hatten</a:t>
            </a:r>
            <a:r>
              <a:rPr dirty="0"/>
              <a:t>, </a:t>
            </a:r>
            <a:r>
              <a:rPr dirty="0" err="1"/>
              <a:t>konnten</a:t>
            </a:r>
            <a:r>
              <a:rPr dirty="0"/>
              <a:t> </a:t>
            </a:r>
            <a:r>
              <a:rPr dirty="0" err="1"/>
              <a:t>wir</a:t>
            </a:r>
            <a:r>
              <a:rPr dirty="0"/>
              <a:t> </a:t>
            </a:r>
            <a:r>
              <a:rPr dirty="0" err="1"/>
              <a:t>kein</a:t>
            </a:r>
            <a:r>
              <a:rPr dirty="0"/>
              <a:t> </a:t>
            </a:r>
            <a:r>
              <a:rPr dirty="0" err="1"/>
              <a:t>vollwertiges</a:t>
            </a:r>
            <a:r>
              <a:rPr dirty="0"/>
              <a:t> JWT-Token-System </a:t>
            </a:r>
            <a:r>
              <a:rPr dirty="0" err="1"/>
              <a:t>integrieren</a:t>
            </a:r>
            <a:r>
              <a:rPr dirty="0"/>
              <a:t>. Das </a:t>
            </a:r>
            <a:r>
              <a:rPr dirty="0" err="1"/>
              <a:t>führte</a:t>
            </a:r>
            <a:r>
              <a:rPr dirty="0"/>
              <a:t> </a:t>
            </a:r>
            <a:r>
              <a:rPr dirty="0" err="1"/>
              <a:t>zu</a:t>
            </a:r>
            <a:r>
              <a:rPr dirty="0"/>
              <a:t> </a:t>
            </a:r>
            <a:r>
              <a:rPr dirty="0" err="1"/>
              <a:t>einem</a:t>
            </a:r>
            <a:r>
              <a:rPr dirty="0"/>
              <a:t> </a:t>
            </a:r>
            <a:r>
              <a:rPr dirty="0" err="1"/>
              <a:t>grossen</a:t>
            </a:r>
            <a:r>
              <a:rPr dirty="0"/>
              <a:t> Risiko: Die </a:t>
            </a:r>
            <a:r>
              <a:rPr dirty="0" err="1"/>
              <a:t>automatisch</a:t>
            </a:r>
            <a:r>
              <a:rPr dirty="0"/>
              <a:t> </a:t>
            </a:r>
            <a:r>
              <a:rPr dirty="0" err="1"/>
              <a:t>generierte</a:t>
            </a:r>
            <a:r>
              <a:rPr dirty="0"/>
              <a:t> API von </a:t>
            </a:r>
            <a:r>
              <a:rPr dirty="0" err="1"/>
              <a:t>PostgREST</a:t>
            </a:r>
            <a:r>
              <a:rPr dirty="0"/>
              <a:t> </a:t>
            </a:r>
            <a:r>
              <a:rPr dirty="0" err="1"/>
              <a:t>erlaubt</a:t>
            </a:r>
            <a:r>
              <a:rPr dirty="0"/>
              <a:t> </a:t>
            </a:r>
            <a:r>
              <a:rPr dirty="0" err="1"/>
              <a:t>standardmässig</a:t>
            </a:r>
            <a:r>
              <a:rPr dirty="0"/>
              <a:t> </a:t>
            </a:r>
            <a:r>
              <a:rPr dirty="0" err="1"/>
              <a:t>jedem</a:t>
            </a:r>
            <a:r>
              <a:rPr dirty="0"/>
              <a:t>, der die URL </a:t>
            </a:r>
            <a:r>
              <a:rPr dirty="0" err="1"/>
              <a:t>kennt</a:t>
            </a:r>
            <a:r>
              <a:rPr dirty="0"/>
              <a:t>, </a:t>
            </a:r>
            <a:r>
              <a:rPr dirty="0" err="1"/>
              <a:t>Daten</a:t>
            </a:r>
            <a:r>
              <a:rPr dirty="0"/>
              <a:t> </a:t>
            </a:r>
            <a:r>
              <a:rPr dirty="0" err="1"/>
              <a:t>abzufragen</a:t>
            </a:r>
            <a:r>
              <a:rPr dirty="0"/>
              <a:t> und </a:t>
            </a:r>
            <a:r>
              <a:rPr dirty="0" err="1"/>
              <a:t>zu</a:t>
            </a:r>
            <a:r>
              <a:rPr dirty="0"/>
              <a:t> </a:t>
            </a:r>
            <a:r>
              <a:rPr dirty="0" err="1"/>
              <a:t>löschen</a:t>
            </a:r>
            <a:r>
              <a:rPr dirty="0"/>
              <a:t>. Ein </a:t>
            </a:r>
            <a:r>
              <a:rPr dirty="0" err="1"/>
              <a:t>böswilliger</a:t>
            </a:r>
            <a:r>
              <a:rPr dirty="0"/>
              <a:t> </a:t>
            </a:r>
            <a:r>
              <a:rPr dirty="0" err="1"/>
              <a:t>Nutzer</a:t>
            </a:r>
            <a:r>
              <a:rPr dirty="0"/>
              <a:t> </a:t>
            </a:r>
            <a:r>
              <a:rPr dirty="0" err="1"/>
              <a:t>hätte</a:t>
            </a:r>
            <a:r>
              <a:rPr dirty="0"/>
              <a:t> also </a:t>
            </a:r>
            <a:r>
              <a:rPr dirty="0" err="1"/>
              <a:t>über</a:t>
            </a:r>
            <a:r>
              <a:rPr dirty="0"/>
              <a:t> Tools </a:t>
            </a:r>
            <a:r>
              <a:rPr dirty="0" err="1"/>
              <a:t>wie</a:t>
            </a:r>
            <a:r>
              <a:rPr dirty="0"/>
              <a:t> Postman </a:t>
            </a:r>
            <a:r>
              <a:rPr dirty="0" err="1"/>
              <a:t>fremde</a:t>
            </a:r>
            <a:r>
              <a:rPr dirty="0"/>
              <a:t> Gruppen, </a:t>
            </a:r>
            <a:r>
              <a:rPr dirty="0" err="1"/>
              <a:t>Interessen</a:t>
            </a:r>
            <a:r>
              <a:rPr dirty="0"/>
              <a:t> </a:t>
            </a:r>
            <a:r>
              <a:rPr dirty="0" err="1"/>
              <a:t>oder</a:t>
            </a:r>
            <a:r>
              <a:rPr dirty="0"/>
              <a:t> Termine </a:t>
            </a:r>
            <a:r>
              <a:rPr dirty="0" err="1"/>
              <a:t>löschen</a:t>
            </a:r>
            <a:r>
              <a:rPr dirty="0"/>
              <a:t> </a:t>
            </a:r>
            <a:r>
              <a:rPr dirty="0" err="1"/>
              <a:t>können</a:t>
            </a:r>
            <a:r>
              <a:rPr dirty="0"/>
              <a:t>.</a:t>
            </a:r>
          </a:p>
          <a:p>
            <a:endParaRPr dirty="0"/>
          </a:p>
          <a:p>
            <a:r>
              <a:rPr dirty="0"/>
              <a:t>Um </a:t>
            </a:r>
            <a:r>
              <a:rPr dirty="0" err="1"/>
              <a:t>diese</a:t>
            </a:r>
            <a:r>
              <a:rPr dirty="0"/>
              <a:t> </a:t>
            </a:r>
            <a:r>
              <a:rPr dirty="0" err="1"/>
              <a:t>kritische</a:t>
            </a:r>
            <a:r>
              <a:rPr dirty="0"/>
              <a:t> </a:t>
            </a:r>
            <a:r>
              <a:rPr dirty="0" err="1"/>
              <a:t>Sicherheitslücke</a:t>
            </a:r>
            <a:r>
              <a:rPr dirty="0"/>
              <a:t> </a:t>
            </a:r>
            <a:r>
              <a:rPr dirty="0" err="1"/>
              <a:t>zu</a:t>
            </a:r>
            <a:r>
              <a:rPr dirty="0"/>
              <a:t> </a:t>
            </a:r>
            <a:r>
              <a:rPr dirty="0" err="1"/>
              <a:t>schliessen</a:t>
            </a:r>
            <a:r>
              <a:rPr dirty="0"/>
              <a:t>, </a:t>
            </a:r>
            <a:r>
              <a:rPr dirty="0" err="1"/>
              <a:t>haben</a:t>
            </a:r>
            <a:r>
              <a:rPr dirty="0"/>
              <a:t> </a:t>
            </a:r>
            <a:r>
              <a:rPr dirty="0" err="1"/>
              <a:t>wir</a:t>
            </a:r>
            <a:r>
              <a:rPr dirty="0"/>
              <a:t> das Problem </a:t>
            </a:r>
            <a:r>
              <a:rPr dirty="0" err="1"/>
              <a:t>direkt</a:t>
            </a:r>
            <a:r>
              <a:rPr dirty="0"/>
              <a:t> in der </a:t>
            </a:r>
            <a:r>
              <a:rPr dirty="0" err="1"/>
              <a:t>Datenbank</a:t>
            </a:r>
            <a:r>
              <a:rPr dirty="0"/>
              <a:t> </a:t>
            </a:r>
            <a:r>
              <a:rPr dirty="0" err="1"/>
              <a:t>gelöst</a:t>
            </a:r>
            <a:r>
              <a:rPr dirty="0"/>
              <a:t>. Wir </a:t>
            </a:r>
            <a:r>
              <a:rPr dirty="0" err="1"/>
              <a:t>haben</a:t>
            </a:r>
            <a:r>
              <a:rPr dirty="0"/>
              <a:t> der API </a:t>
            </a:r>
            <a:r>
              <a:rPr dirty="0" err="1"/>
              <a:t>jegliche</a:t>
            </a:r>
            <a:r>
              <a:rPr dirty="0"/>
              <a:t> </a:t>
            </a:r>
            <a:r>
              <a:rPr dirty="0" err="1"/>
              <a:t>direkten</a:t>
            </a:r>
            <a:r>
              <a:rPr dirty="0"/>
              <a:t> </a:t>
            </a:r>
            <a:r>
              <a:rPr dirty="0" err="1"/>
              <a:t>Löschrechte</a:t>
            </a:r>
            <a:r>
              <a:rPr dirty="0"/>
              <a:t> auf den </a:t>
            </a:r>
            <a:r>
              <a:rPr dirty="0" err="1"/>
              <a:t>Tabellen</a:t>
            </a:r>
            <a:r>
              <a:rPr dirty="0"/>
              <a:t> </a:t>
            </a:r>
            <a:r>
              <a:rPr dirty="0" err="1"/>
              <a:t>entzogen</a:t>
            </a:r>
            <a:r>
              <a:rPr dirty="0"/>
              <a:t>. </a:t>
            </a:r>
            <a:r>
              <a:rPr dirty="0" err="1"/>
              <a:t>Stattdessen</a:t>
            </a:r>
            <a:r>
              <a:rPr dirty="0"/>
              <a:t> </a:t>
            </a:r>
            <a:r>
              <a:rPr dirty="0" err="1"/>
              <a:t>haben</a:t>
            </a:r>
            <a:r>
              <a:rPr dirty="0"/>
              <a:t> </a:t>
            </a:r>
            <a:r>
              <a:rPr dirty="0" err="1"/>
              <a:t>wir</a:t>
            </a:r>
            <a:r>
              <a:rPr dirty="0"/>
              <a:t> </a:t>
            </a:r>
            <a:r>
              <a:rPr dirty="0" err="1"/>
              <a:t>serverseitige</a:t>
            </a:r>
            <a:r>
              <a:rPr dirty="0"/>
              <a:t> PostgreSQL-</a:t>
            </a:r>
            <a:r>
              <a:rPr dirty="0" err="1"/>
              <a:t>Funktionen</a:t>
            </a:r>
            <a:r>
              <a:rPr dirty="0"/>
              <a:t> (</a:t>
            </a:r>
            <a:r>
              <a:rPr dirty="0" err="1"/>
              <a:t>sogenannte</a:t>
            </a:r>
            <a:r>
              <a:rPr dirty="0"/>
              <a:t> Remote Procedure Calls </a:t>
            </a:r>
            <a:r>
              <a:rPr dirty="0" err="1"/>
              <a:t>oder</a:t>
            </a:r>
            <a:r>
              <a:rPr dirty="0"/>
              <a:t> Stored Procedures) </a:t>
            </a:r>
            <a:r>
              <a:rPr dirty="0" err="1"/>
              <a:t>geschrieben</a:t>
            </a:r>
            <a:r>
              <a:rPr dirty="0"/>
              <a:t>. Wenn </a:t>
            </a:r>
            <a:r>
              <a:rPr dirty="0" err="1"/>
              <a:t>ein</a:t>
            </a:r>
            <a:r>
              <a:rPr dirty="0"/>
              <a:t> </a:t>
            </a:r>
            <a:r>
              <a:rPr dirty="0" err="1"/>
              <a:t>Nutzer</a:t>
            </a:r>
            <a:r>
              <a:rPr dirty="0"/>
              <a:t> nun </a:t>
            </a:r>
            <a:r>
              <a:rPr dirty="0" err="1"/>
              <a:t>im</a:t>
            </a:r>
            <a:r>
              <a:rPr dirty="0"/>
              <a:t> Frontend auf '</a:t>
            </a:r>
            <a:r>
              <a:rPr dirty="0" err="1"/>
              <a:t>Löschen</a:t>
            </a:r>
            <a:r>
              <a:rPr dirty="0"/>
              <a:t>' </a:t>
            </a:r>
            <a:r>
              <a:rPr dirty="0" err="1"/>
              <a:t>klickt</a:t>
            </a:r>
            <a:r>
              <a:rPr dirty="0"/>
              <a:t>, </a:t>
            </a:r>
            <a:r>
              <a:rPr dirty="0" err="1"/>
              <a:t>ruft</a:t>
            </a:r>
            <a:r>
              <a:rPr dirty="0"/>
              <a:t> er </a:t>
            </a:r>
            <a:r>
              <a:rPr dirty="0" err="1"/>
              <a:t>diese</a:t>
            </a:r>
            <a:r>
              <a:rPr dirty="0"/>
              <a:t> DB-</a:t>
            </a:r>
            <a:r>
              <a:rPr dirty="0" err="1"/>
              <a:t>Funktion</a:t>
            </a:r>
            <a:r>
              <a:rPr dirty="0"/>
              <a:t> auf. Die </a:t>
            </a:r>
            <a:r>
              <a:rPr dirty="0" err="1"/>
              <a:t>Funktion</a:t>
            </a:r>
            <a:r>
              <a:rPr dirty="0"/>
              <a:t> </a:t>
            </a:r>
            <a:r>
              <a:rPr dirty="0" err="1"/>
              <a:t>prüft</a:t>
            </a:r>
            <a:r>
              <a:rPr dirty="0"/>
              <a:t> intern in der </a:t>
            </a:r>
            <a:r>
              <a:rPr dirty="0" err="1"/>
              <a:t>Datenbank</a:t>
            </a:r>
            <a:r>
              <a:rPr dirty="0"/>
              <a:t>, </a:t>
            </a:r>
            <a:r>
              <a:rPr dirty="0" err="1"/>
              <a:t>ob</a:t>
            </a:r>
            <a:r>
              <a:rPr dirty="0"/>
              <a:t> die ID des </a:t>
            </a:r>
            <a:r>
              <a:rPr dirty="0" err="1"/>
              <a:t>Nutzers</a:t>
            </a:r>
            <a:r>
              <a:rPr dirty="0"/>
              <a:t> </a:t>
            </a:r>
            <a:r>
              <a:rPr dirty="0" err="1"/>
              <a:t>mit</a:t>
            </a:r>
            <a:r>
              <a:rPr dirty="0"/>
              <a:t> dem </a:t>
            </a:r>
            <a:r>
              <a:rPr dirty="0" err="1"/>
              <a:t>Ersteller</a:t>
            </a:r>
            <a:r>
              <a:rPr dirty="0"/>
              <a:t> des </a:t>
            </a:r>
            <a:r>
              <a:rPr dirty="0" err="1"/>
              <a:t>Eintrags</a:t>
            </a:r>
            <a:r>
              <a:rPr dirty="0"/>
              <a:t> </a:t>
            </a:r>
            <a:r>
              <a:rPr dirty="0" err="1"/>
              <a:t>oder</a:t>
            </a:r>
            <a:r>
              <a:rPr dirty="0"/>
              <a:t> dem </a:t>
            </a:r>
            <a:r>
              <a:rPr dirty="0" err="1"/>
              <a:t>Besitzer</a:t>
            </a:r>
            <a:r>
              <a:rPr dirty="0"/>
              <a:t> der Gruppe </a:t>
            </a:r>
            <a:r>
              <a:rPr dirty="0" err="1"/>
              <a:t>übereinstimmt</a:t>
            </a:r>
            <a:r>
              <a:rPr dirty="0"/>
              <a:t>. Nur </a:t>
            </a:r>
            <a:r>
              <a:rPr dirty="0" err="1"/>
              <a:t>wenn</a:t>
            </a:r>
            <a:r>
              <a:rPr dirty="0"/>
              <a:t> </a:t>
            </a:r>
            <a:r>
              <a:rPr dirty="0" err="1"/>
              <a:t>diese</a:t>
            </a:r>
            <a:r>
              <a:rPr dirty="0"/>
              <a:t> Prüfung </a:t>
            </a:r>
            <a:r>
              <a:rPr dirty="0" err="1"/>
              <a:t>erfolgreich</a:t>
            </a:r>
            <a:r>
              <a:rPr dirty="0"/>
              <a:t> </a:t>
            </a:r>
            <a:r>
              <a:rPr dirty="0" err="1"/>
              <a:t>ist</a:t>
            </a:r>
            <a:r>
              <a:rPr dirty="0"/>
              <a:t>, </a:t>
            </a:r>
            <a:r>
              <a:rPr dirty="0" err="1"/>
              <a:t>wird</a:t>
            </a:r>
            <a:r>
              <a:rPr dirty="0"/>
              <a:t> der </a:t>
            </a:r>
            <a:r>
              <a:rPr dirty="0" err="1"/>
              <a:t>Löschvorgang</a:t>
            </a:r>
            <a:r>
              <a:rPr dirty="0"/>
              <a:t> </a:t>
            </a:r>
            <a:r>
              <a:rPr dirty="0" err="1"/>
              <a:t>ausgeführt</a:t>
            </a:r>
            <a:r>
              <a:rPr dirty="0"/>
              <a:t>. Damit </a:t>
            </a:r>
            <a:r>
              <a:rPr dirty="0" err="1"/>
              <a:t>ist</a:t>
            </a:r>
            <a:r>
              <a:rPr dirty="0"/>
              <a:t> das </a:t>
            </a:r>
            <a:r>
              <a:rPr dirty="0" err="1"/>
              <a:t>Löschen</a:t>
            </a:r>
            <a:r>
              <a:rPr dirty="0"/>
              <a:t> </a:t>
            </a:r>
            <a:r>
              <a:rPr dirty="0" err="1"/>
              <a:t>absolut</a:t>
            </a:r>
            <a:r>
              <a:rPr dirty="0"/>
              <a:t> </a:t>
            </a:r>
            <a:r>
              <a:rPr dirty="0" err="1"/>
              <a:t>manipulationssicher</a:t>
            </a:r>
            <a:r>
              <a:rPr dirty="0"/>
              <a:t> – </a:t>
            </a:r>
            <a:r>
              <a:rPr dirty="0" err="1"/>
              <a:t>selbst</a:t>
            </a:r>
            <a:r>
              <a:rPr dirty="0"/>
              <a:t> </a:t>
            </a:r>
            <a:r>
              <a:rPr dirty="0" err="1"/>
              <a:t>wenn</a:t>
            </a:r>
            <a:r>
              <a:rPr dirty="0"/>
              <a:t> </a:t>
            </a:r>
            <a:r>
              <a:rPr dirty="0" err="1"/>
              <a:t>jemand</a:t>
            </a:r>
            <a:r>
              <a:rPr dirty="0"/>
              <a:t> </a:t>
            </a:r>
            <a:r>
              <a:rPr dirty="0" err="1"/>
              <a:t>versucht</a:t>
            </a:r>
            <a:r>
              <a:rPr dirty="0"/>
              <a:t>, die API </a:t>
            </a:r>
            <a:r>
              <a:rPr dirty="0" err="1"/>
              <a:t>direkt</a:t>
            </a:r>
            <a:r>
              <a:rPr dirty="0"/>
              <a:t> </a:t>
            </a:r>
            <a:r>
              <a:rPr dirty="0" err="1"/>
              <a:t>anzusprechen</a:t>
            </a:r>
            <a:r>
              <a:rPr dirty="0"/>
              <a:t>. Das </a:t>
            </a:r>
            <a:r>
              <a:rPr dirty="0" err="1"/>
              <a:t>garantiert</a:t>
            </a:r>
            <a:r>
              <a:rPr dirty="0"/>
              <a:t> die </a:t>
            </a:r>
            <a:r>
              <a:rPr dirty="0" err="1"/>
              <a:t>Datenintegrität</a:t>
            </a:r>
            <a:r>
              <a:rPr dirty="0"/>
              <a:t> auf </a:t>
            </a:r>
            <a:r>
              <a:rPr dirty="0" err="1"/>
              <a:t>Serverebene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Nun </a:t>
            </a:r>
            <a:r>
              <a:rPr dirty="0" err="1"/>
              <a:t>kommen</a:t>
            </a:r>
            <a:r>
              <a:rPr dirty="0"/>
              <a:t> </a:t>
            </a:r>
            <a:r>
              <a:rPr dirty="0" err="1"/>
              <a:t>wir</a:t>
            </a:r>
            <a:r>
              <a:rPr dirty="0"/>
              <a:t> </a:t>
            </a:r>
            <a:r>
              <a:rPr dirty="0" err="1"/>
              <a:t>zum</a:t>
            </a:r>
            <a:r>
              <a:rPr dirty="0"/>
              <a:t> </a:t>
            </a:r>
            <a:r>
              <a:rPr dirty="0" err="1"/>
              <a:t>Kernstück</a:t>
            </a:r>
            <a:r>
              <a:rPr dirty="0"/>
              <a:t> </a:t>
            </a:r>
            <a:r>
              <a:rPr dirty="0" err="1"/>
              <a:t>unserer</a:t>
            </a:r>
            <a:r>
              <a:rPr dirty="0"/>
              <a:t> </a:t>
            </a:r>
            <a:r>
              <a:rPr dirty="0" err="1"/>
              <a:t>Präsentation</a:t>
            </a:r>
            <a:r>
              <a:rPr dirty="0"/>
              <a:t>: der Live-Demo. Wir </a:t>
            </a:r>
            <a:r>
              <a:rPr dirty="0" err="1"/>
              <a:t>möchten</a:t>
            </a:r>
            <a:r>
              <a:rPr dirty="0"/>
              <a:t> Ihnen </a:t>
            </a:r>
            <a:r>
              <a:rPr dirty="0" err="1"/>
              <a:t>zeigen</a:t>
            </a:r>
            <a:r>
              <a:rPr dirty="0"/>
              <a:t>, </a:t>
            </a:r>
            <a:r>
              <a:rPr dirty="0" err="1"/>
              <a:t>dass</a:t>
            </a:r>
            <a:r>
              <a:rPr dirty="0"/>
              <a:t> die </a:t>
            </a:r>
            <a:r>
              <a:rPr dirty="0" err="1"/>
              <a:t>Theorie</a:t>
            </a:r>
            <a:r>
              <a:rPr dirty="0"/>
              <a:t> </a:t>
            </a:r>
            <a:r>
              <a:rPr dirty="0" err="1"/>
              <a:t>auch</a:t>
            </a:r>
            <a:r>
              <a:rPr dirty="0"/>
              <a:t> in der Praxis </a:t>
            </a:r>
            <a:r>
              <a:rPr dirty="0" err="1"/>
              <a:t>einwandfrei</a:t>
            </a:r>
            <a:r>
              <a:rPr dirty="0"/>
              <a:t> </a:t>
            </a:r>
            <a:r>
              <a:rPr dirty="0" err="1"/>
              <a:t>funktioniert</a:t>
            </a:r>
            <a:r>
              <a:rPr dirty="0"/>
              <a:t>.</a:t>
            </a:r>
          </a:p>
          <a:p>
            <a:endParaRPr dirty="0"/>
          </a:p>
          <a:p>
            <a:r>
              <a:rPr dirty="0"/>
              <a:t>1. Start: Wir </a:t>
            </a:r>
            <a:r>
              <a:rPr dirty="0" err="1"/>
              <a:t>starten</a:t>
            </a:r>
            <a:r>
              <a:rPr dirty="0"/>
              <a:t> auf </a:t>
            </a:r>
            <a:r>
              <a:rPr dirty="0" err="1"/>
              <a:t>unserer</a:t>
            </a:r>
            <a:r>
              <a:rPr dirty="0"/>
              <a:t> Login-</a:t>
            </a:r>
            <a:r>
              <a:rPr dirty="0" err="1"/>
              <a:t>Seite</a:t>
            </a:r>
            <a:r>
              <a:rPr dirty="0"/>
              <a:t>. Die UI </a:t>
            </a:r>
            <a:r>
              <a:rPr dirty="0" err="1"/>
              <a:t>ist</a:t>
            </a:r>
            <a:r>
              <a:rPr dirty="0"/>
              <a:t> </a:t>
            </a:r>
            <a:r>
              <a:rPr dirty="0" err="1"/>
              <a:t>sauber</a:t>
            </a:r>
            <a:r>
              <a:rPr dirty="0"/>
              <a:t> </a:t>
            </a:r>
            <a:r>
              <a:rPr dirty="0" err="1"/>
              <a:t>aufgeteilt</a:t>
            </a:r>
            <a:r>
              <a:rPr dirty="0"/>
              <a:t>. Wir </a:t>
            </a:r>
            <a:r>
              <a:rPr dirty="0" err="1"/>
              <a:t>loggen</a:t>
            </a:r>
            <a:r>
              <a:rPr dirty="0"/>
              <a:t> </a:t>
            </a:r>
            <a:r>
              <a:rPr dirty="0" err="1"/>
              <a:t>uns</a:t>
            </a:r>
            <a:r>
              <a:rPr dirty="0"/>
              <a:t> </a:t>
            </a:r>
            <a:r>
              <a:rPr dirty="0" err="1"/>
              <a:t>mit</a:t>
            </a:r>
            <a:r>
              <a:rPr dirty="0"/>
              <a:t> </a:t>
            </a:r>
            <a:r>
              <a:rPr dirty="0" err="1"/>
              <a:t>einem</a:t>
            </a:r>
            <a:r>
              <a:rPr dirty="0"/>
              <a:t> Test-Account </a:t>
            </a:r>
            <a:r>
              <a:rPr dirty="0" err="1"/>
              <a:t>ein</a:t>
            </a:r>
            <a:r>
              <a:rPr dirty="0"/>
              <a:t>.</a:t>
            </a:r>
          </a:p>
          <a:p>
            <a:r>
              <a:rPr dirty="0"/>
              <a:t>2. Dashboard: Auf der </a:t>
            </a:r>
            <a:r>
              <a:rPr dirty="0" err="1"/>
              <a:t>linken</a:t>
            </a:r>
            <a:r>
              <a:rPr dirty="0"/>
              <a:t> </a:t>
            </a:r>
            <a:r>
              <a:rPr dirty="0" err="1"/>
              <a:t>Seite</a:t>
            </a:r>
            <a:r>
              <a:rPr dirty="0"/>
              <a:t> </a:t>
            </a:r>
            <a:r>
              <a:rPr dirty="0" err="1"/>
              <a:t>sehen</a:t>
            </a:r>
            <a:r>
              <a:rPr dirty="0"/>
              <a:t> </a:t>
            </a:r>
            <a:r>
              <a:rPr dirty="0" err="1"/>
              <a:t>wir</a:t>
            </a:r>
            <a:r>
              <a:rPr dirty="0"/>
              <a:t> die Navigation. Wir </a:t>
            </a:r>
            <a:r>
              <a:rPr dirty="0" err="1"/>
              <a:t>erstellen</a:t>
            </a:r>
            <a:r>
              <a:rPr dirty="0"/>
              <a:t> nun live </a:t>
            </a:r>
            <a:r>
              <a:rPr dirty="0" err="1"/>
              <a:t>eine</a:t>
            </a:r>
            <a:r>
              <a:rPr dirty="0"/>
              <a:t> </a:t>
            </a:r>
            <a:r>
              <a:rPr dirty="0" err="1"/>
              <a:t>neue</a:t>
            </a:r>
            <a:r>
              <a:rPr dirty="0"/>
              <a:t> Gruppe </a:t>
            </a:r>
            <a:r>
              <a:rPr dirty="0" err="1"/>
              <a:t>namens</a:t>
            </a:r>
            <a:r>
              <a:rPr dirty="0"/>
              <a:t> '</a:t>
            </a:r>
            <a:r>
              <a:rPr dirty="0" err="1"/>
              <a:t>Sommerferien</a:t>
            </a:r>
            <a:r>
              <a:rPr dirty="0"/>
              <a:t>-Crew'.</a:t>
            </a:r>
          </a:p>
          <a:p>
            <a:r>
              <a:rPr dirty="0"/>
              <a:t>3. </a:t>
            </a:r>
            <a:r>
              <a:rPr dirty="0" err="1"/>
              <a:t>Interessen</a:t>
            </a:r>
            <a:r>
              <a:rPr dirty="0"/>
              <a:t>: Für </a:t>
            </a:r>
            <a:r>
              <a:rPr dirty="0" err="1"/>
              <a:t>diese</a:t>
            </a:r>
            <a:r>
              <a:rPr dirty="0"/>
              <a:t> Gruppe </a:t>
            </a:r>
            <a:r>
              <a:rPr dirty="0" err="1"/>
              <a:t>fügen</a:t>
            </a:r>
            <a:r>
              <a:rPr dirty="0"/>
              <a:t> </a:t>
            </a:r>
            <a:r>
              <a:rPr dirty="0" err="1"/>
              <a:t>wir</a:t>
            </a:r>
            <a:r>
              <a:rPr dirty="0"/>
              <a:t> </a:t>
            </a:r>
            <a:r>
              <a:rPr dirty="0" err="1"/>
              <a:t>Interessen</a:t>
            </a:r>
            <a:r>
              <a:rPr dirty="0"/>
              <a:t> </a:t>
            </a:r>
            <a:r>
              <a:rPr dirty="0" err="1"/>
              <a:t>hinzu</a:t>
            </a:r>
            <a:r>
              <a:rPr dirty="0"/>
              <a:t> (</a:t>
            </a:r>
            <a:r>
              <a:rPr dirty="0" err="1"/>
              <a:t>z.B.</a:t>
            </a:r>
            <a:r>
              <a:rPr dirty="0"/>
              <a:t> 'Essen' und 'Sport'). Sie </a:t>
            </a:r>
            <a:r>
              <a:rPr dirty="0" err="1"/>
              <a:t>sehen</a:t>
            </a:r>
            <a:r>
              <a:rPr dirty="0"/>
              <a:t>, </a:t>
            </a:r>
            <a:r>
              <a:rPr dirty="0" err="1"/>
              <a:t>wie</a:t>
            </a:r>
            <a:r>
              <a:rPr dirty="0"/>
              <a:t> schnell die Chips </a:t>
            </a:r>
            <a:r>
              <a:rPr dirty="0" err="1"/>
              <a:t>hinzugefügt</a:t>
            </a:r>
            <a:r>
              <a:rPr dirty="0"/>
              <a:t> </a:t>
            </a:r>
            <a:r>
              <a:rPr dirty="0" err="1"/>
              <a:t>werden</a:t>
            </a:r>
            <a:r>
              <a:rPr dirty="0"/>
              <a:t>.</a:t>
            </a:r>
          </a:p>
          <a:p>
            <a:r>
              <a:rPr dirty="0"/>
              <a:t>4. </a:t>
            </a:r>
            <a:r>
              <a:rPr dirty="0" err="1"/>
              <a:t>Aktivität</a:t>
            </a:r>
            <a:r>
              <a:rPr dirty="0"/>
              <a:t> </a:t>
            </a:r>
            <a:r>
              <a:rPr dirty="0" err="1"/>
              <a:t>erstellen</a:t>
            </a:r>
            <a:r>
              <a:rPr dirty="0"/>
              <a:t>: Nun </a:t>
            </a:r>
            <a:r>
              <a:rPr dirty="0" err="1"/>
              <a:t>planen</a:t>
            </a:r>
            <a:r>
              <a:rPr dirty="0"/>
              <a:t> </a:t>
            </a:r>
            <a:r>
              <a:rPr dirty="0" err="1"/>
              <a:t>wir</a:t>
            </a:r>
            <a:r>
              <a:rPr dirty="0"/>
              <a:t> </a:t>
            </a:r>
            <a:r>
              <a:rPr dirty="0" err="1"/>
              <a:t>eine</a:t>
            </a:r>
            <a:r>
              <a:rPr dirty="0"/>
              <a:t> </a:t>
            </a:r>
            <a:r>
              <a:rPr dirty="0" err="1"/>
              <a:t>konkrete</a:t>
            </a:r>
            <a:r>
              <a:rPr dirty="0"/>
              <a:t> </a:t>
            </a:r>
            <a:r>
              <a:rPr dirty="0" err="1"/>
              <a:t>Aktivität</a:t>
            </a:r>
            <a:r>
              <a:rPr dirty="0"/>
              <a:t>: Einen '</a:t>
            </a:r>
            <a:r>
              <a:rPr dirty="0" err="1"/>
              <a:t>Grillabend</a:t>
            </a:r>
            <a:r>
              <a:rPr dirty="0"/>
              <a:t>'. Wir </a:t>
            </a:r>
            <a:r>
              <a:rPr dirty="0" err="1"/>
              <a:t>weisen</a:t>
            </a:r>
            <a:r>
              <a:rPr dirty="0"/>
              <a:t> </a:t>
            </a:r>
            <a:r>
              <a:rPr dirty="0" err="1"/>
              <a:t>dieser</a:t>
            </a:r>
            <a:r>
              <a:rPr dirty="0"/>
              <a:t> </a:t>
            </a:r>
            <a:r>
              <a:rPr dirty="0" err="1"/>
              <a:t>Aktivität</a:t>
            </a:r>
            <a:r>
              <a:rPr dirty="0"/>
              <a:t> das Interesse 'Essen' </a:t>
            </a:r>
            <a:r>
              <a:rPr dirty="0" err="1"/>
              <a:t>zu</a:t>
            </a:r>
            <a:r>
              <a:rPr dirty="0"/>
              <a:t>.</a:t>
            </a:r>
          </a:p>
          <a:p>
            <a:r>
              <a:rPr dirty="0"/>
              <a:t>5. Termine &amp; </a:t>
            </a:r>
            <a:r>
              <a:rPr dirty="0" err="1"/>
              <a:t>Abstimmung</a:t>
            </a:r>
            <a:r>
              <a:rPr dirty="0"/>
              <a:t>: Für </a:t>
            </a:r>
            <a:r>
              <a:rPr dirty="0" err="1"/>
              <a:t>diesen</a:t>
            </a:r>
            <a:r>
              <a:rPr dirty="0"/>
              <a:t> </a:t>
            </a:r>
            <a:r>
              <a:rPr dirty="0" err="1"/>
              <a:t>Grillabend</a:t>
            </a:r>
            <a:r>
              <a:rPr dirty="0"/>
              <a:t> </a:t>
            </a:r>
            <a:r>
              <a:rPr dirty="0" err="1"/>
              <a:t>erstellen</a:t>
            </a:r>
            <a:r>
              <a:rPr dirty="0"/>
              <a:t> </a:t>
            </a:r>
            <a:r>
              <a:rPr dirty="0" err="1"/>
              <a:t>wir</a:t>
            </a:r>
            <a:r>
              <a:rPr dirty="0"/>
              <a:t> </a:t>
            </a:r>
            <a:r>
              <a:rPr dirty="0" err="1"/>
              <a:t>zwei</a:t>
            </a:r>
            <a:r>
              <a:rPr dirty="0"/>
              <a:t> </a:t>
            </a:r>
            <a:r>
              <a:rPr dirty="0" err="1"/>
              <a:t>Terminvorschläge</a:t>
            </a:r>
            <a:r>
              <a:rPr dirty="0"/>
              <a:t>. </a:t>
            </a:r>
            <a:r>
              <a:rPr dirty="0" err="1"/>
              <a:t>Jetzt</a:t>
            </a:r>
            <a:r>
              <a:rPr dirty="0"/>
              <a:t> </a:t>
            </a:r>
            <a:r>
              <a:rPr dirty="0" err="1"/>
              <a:t>stimmen</a:t>
            </a:r>
            <a:r>
              <a:rPr dirty="0"/>
              <a:t> </a:t>
            </a:r>
            <a:r>
              <a:rPr dirty="0" err="1"/>
              <a:t>wir</a:t>
            </a:r>
            <a:r>
              <a:rPr dirty="0"/>
              <a:t> ab: Ein Termin </a:t>
            </a:r>
            <a:r>
              <a:rPr dirty="0" err="1"/>
              <a:t>erhält</a:t>
            </a:r>
            <a:r>
              <a:rPr dirty="0"/>
              <a:t> </a:t>
            </a:r>
            <a:r>
              <a:rPr dirty="0" err="1"/>
              <a:t>ein</a:t>
            </a:r>
            <a:r>
              <a:rPr dirty="0"/>
              <a:t> 👍, der </a:t>
            </a:r>
            <a:r>
              <a:rPr dirty="0" err="1"/>
              <a:t>andere</a:t>
            </a:r>
            <a:r>
              <a:rPr dirty="0"/>
              <a:t> </a:t>
            </a:r>
            <a:r>
              <a:rPr dirty="0" err="1"/>
              <a:t>ein</a:t>
            </a:r>
            <a:r>
              <a:rPr dirty="0"/>
              <a:t> 👎.</a:t>
            </a:r>
          </a:p>
          <a:p>
            <a:r>
              <a:rPr dirty="0"/>
              <a:t>6. Die Magie: Sie </a:t>
            </a:r>
            <a:r>
              <a:rPr dirty="0" err="1"/>
              <a:t>sehen</a:t>
            </a:r>
            <a:r>
              <a:rPr dirty="0"/>
              <a:t> </a:t>
            </a:r>
            <a:r>
              <a:rPr dirty="0" err="1"/>
              <a:t>sofort</a:t>
            </a:r>
            <a:r>
              <a:rPr dirty="0"/>
              <a:t>, </a:t>
            </a:r>
            <a:r>
              <a:rPr dirty="0" err="1"/>
              <a:t>dass</a:t>
            </a:r>
            <a:r>
              <a:rPr dirty="0"/>
              <a:t> der Termin </a:t>
            </a:r>
            <a:r>
              <a:rPr dirty="0" err="1"/>
              <a:t>mit</a:t>
            </a:r>
            <a:r>
              <a:rPr dirty="0"/>
              <a:t> der </a:t>
            </a:r>
            <a:r>
              <a:rPr dirty="0" err="1"/>
              <a:t>positiven</a:t>
            </a:r>
            <a:r>
              <a:rPr dirty="0"/>
              <a:t> </a:t>
            </a:r>
            <a:r>
              <a:rPr dirty="0" err="1"/>
              <a:t>Bewertung</a:t>
            </a:r>
            <a:r>
              <a:rPr dirty="0"/>
              <a:t> live </a:t>
            </a:r>
            <a:r>
              <a:rPr dirty="0" err="1"/>
              <a:t>als</a:t>
            </a:r>
            <a:r>
              <a:rPr dirty="0"/>
              <a:t> 'Bester Termin' </a:t>
            </a:r>
            <a:r>
              <a:rPr dirty="0" err="1"/>
              <a:t>mit</a:t>
            </a:r>
            <a:r>
              <a:rPr dirty="0"/>
              <a:t> </a:t>
            </a:r>
            <a:r>
              <a:rPr dirty="0" err="1"/>
              <a:t>einem</a:t>
            </a:r>
            <a:r>
              <a:rPr dirty="0"/>
              <a:t> </a:t>
            </a:r>
            <a:r>
              <a:rPr dirty="0" err="1"/>
              <a:t>goldenen</a:t>
            </a:r>
            <a:r>
              <a:rPr dirty="0"/>
              <a:t> Pokal </a:t>
            </a:r>
            <a:r>
              <a:rPr dirty="0" err="1"/>
              <a:t>markiert</a:t>
            </a:r>
            <a:r>
              <a:rPr dirty="0"/>
              <a:t> </a:t>
            </a:r>
            <a:r>
              <a:rPr dirty="0" err="1"/>
              <a:t>wird</a:t>
            </a:r>
            <a:r>
              <a:rPr dirty="0"/>
              <a:t>. Die Namen der </a:t>
            </a:r>
            <a:r>
              <a:rPr dirty="0" err="1"/>
              <a:t>Abstimmenden</a:t>
            </a:r>
            <a:r>
              <a:rPr dirty="0"/>
              <a:t> </a:t>
            </a:r>
            <a:r>
              <a:rPr dirty="0" err="1"/>
              <a:t>erscheinen</a:t>
            </a:r>
            <a:r>
              <a:rPr dirty="0"/>
              <a:t> </a:t>
            </a:r>
            <a:r>
              <a:rPr dirty="0" err="1"/>
              <a:t>direkt</a:t>
            </a:r>
            <a:r>
              <a:rPr dirty="0"/>
              <a:t> </a:t>
            </a:r>
            <a:r>
              <a:rPr dirty="0" err="1"/>
              <a:t>neben</a:t>
            </a:r>
            <a:r>
              <a:rPr dirty="0"/>
              <a:t> den </a:t>
            </a:r>
            <a:r>
              <a:rPr dirty="0" err="1"/>
              <a:t>Symbolen</a:t>
            </a:r>
            <a:r>
              <a:rPr dirty="0"/>
              <a:t>.</a:t>
            </a:r>
          </a:p>
          <a:p>
            <a:r>
              <a:rPr dirty="0"/>
              <a:t>7. Sicherheit: Zum </a:t>
            </a:r>
            <a:r>
              <a:rPr dirty="0" err="1"/>
              <a:t>Abschluss</a:t>
            </a:r>
            <a:r>
              <a:rPr dirty="0"/>
              <a:t> </a:t>
            </a:r>
            <a:r>
              <a:rPr dirty="0" err="1"/>
              <a:t>zeigen</a:t>
            </a:r>
            <a:r>
              <a:rPr dirty="0"/>
              <a:t> </a:t>
            </a:r>
            <a:r>
              <a:rPr dirty="0" err="1"/>
              <a:t>wir</a:t>
            </a:r>
            <a:r>
              <a:rPr dirty="0"/>
              <a:t> das </a:t>
            </a:r>
            <a:r>
              <a:rPr dirty="0" err="1"/>
              <a:t>Berechtigungs</a:t>
            </a:r>
            <a:r>
              <a:rPr dirty="0"/>
              <a:t>-Feature. Da </a:t>
            </a:r>
            <a:r>
              <a:rPr dirty="0" err="1"/>
              <a:t>wir</a:t>
            </a:r>
            <a:r>
              <a:rPr dirty="0"/>
              <a:t> der </a:t>
            </a:r>
            <a:r>
              <a:rPr dirty="0" err="1"/>
              <a:t>Ersteller</a:t>
            </a:r>
            <a:r>
              <a:rPr dirty="0"/>
              <a:t> </a:t>
            </a:r>
            <a:r>
              <a:rPr dirty="0" err="1"/>
              <a:t>sind</a:t>
            </a:r>
            <a:r>
              <a:rPr dirty="0"/>
              <a:t>, </a:t>
            </a:r>
            <a:r>
              <a:rPr dirty="0" err="1"/>
              <a:t>sehen</a:t>
            </a:r>
            <a:r>
              <a:rPr dirty="0"/>
              <a:t> </a:t>
            </a:r>
            <a:r>
              <a:rPr dirty="0" err="1"/>
              <a:t>wir</a:t>
            </a:r>
            <a:r>
              <a:rPr dirty="0"/>
              <a:t> den </a:t>
            </a:r>
            <a:r>
              <a:rPr dirty="0" err="1"/>
              <a:t>roten</a:t>
            </a:r>
            <a:r>
              <a:rPr dirty="0"/>
              <a:t> </a:t>
            </a:r>
            <a:r>
              <a:rPr dirty="0" err="1"/>
              <a:t>Mülleimer</a:t>
            </a:r>
            <a:r>
              <a:rPr dirty="0"/>
              <a:t>. Wenn </a:t>
            </a:r>
            <a:r>
              <a:rPr dirty="0" err="1"/>
              <a:t>wir</a:t>
            </a:r>
            <a:r>
              <a:rPr dirty="0"/>
              <a:t> </a:t>
            </a:r>
            <a:r>
              <a:rPr dirty="0" err="1"/>
              <a:t>darauf</a:t>
            </a:r>
            <a:r>
              <a:rPr dirty="0"/>
              <a:t> </a:t>
            </a:r>
            <a:r>
              <a:rPr dirty="0" err="1"/>
              <a:t>klicken</a:t>
            </a:r>
            <a:r>
              <a:rPr dirty="0"/>
              <a:t>, </a:t>
            </a:r>
            <a:r>
              <a:rPr dirty="0" err="1"/>
              <a:t>öffnet</a:t>
            </a:r>
            <a:r>
              <a:rPr dirty="0"/>
              <a:t> </a:t>
            </a:r>
            <a:r>
              <a:rPr dirty="0" err="1"/>
              <a:t>sich</a:t>
            </a:r>
            <a:r>
              <a:rPr dirty="0"/>
              <a:t> </a:t>
            </a:r>
            <a:r>
              <a:rPr dirty="0" err="1"/>
              <a:t>ein</a:t>
            </a:r>
            <a:r>
              <a:rPr dirty="0"/>
              <a:t> </a:t>
            </a:r>
            <a:r>
              <a:rPr dirty="0" err="1"/>
              <a:t>schönes</a:t>
            </a:r>
            <a:r>
              <a:rPr dirty="0"/>
              <a:t> </a:t>
            </a:r>
            <a:r>
              <a:rPr dirty="0" err="1"/>
              <a:t>Bestätigungs</a:t>
            </a:r>
            <a:r>
              <a:rPr dirty="0"/>
              <a:t>-Modal (</a:t>
            </a:r>
            <a:r>
              <a:rPr dirty="0" err="1"/>
              <a:t>kein</a:t>
            </a:r>
            <a:r>
              <a:rPr dirty="0"/>
              <a:t> </a:t>
            </a:r>
            <a:r>
              <a:rPr dirty="0" err="1"/>
              <a:t>unprofessioneller</a:t>
            </a:r>
            <a:r>
              <a:rPr dirty="0"/>
              <a:t> Browser-Alert) und </a:t>
            </a:r>
            <a:r>
              <a:rPr dirty="0" err="1"/>
              <a:t>wir</a:t>
            </a:r>
            <a:r>
              <a:rPr dirty="0"/>
              <a:t> </a:t>
            </a:r>
            <a:r>
              <a:rPr dirty="0" err="1"/>
              <a:t>können</a:t>
            </a:r>
            <a:r>
              <a:rPr dirty="0"/>
              <a:t> das Element </a:t>
            </a:r>
            <a:r>
              <a:rPr dirty="0" err="1"/>
              <a:t>sicher</a:t>
            </a:r>
            <a:r>
              <a:rPr dirty="0"/>
              <a:t> </a:t>
            </a:r>
            <a:r>
              <a:rPr dirty="0" err="1"/>
              <a:t>löschen</a:t>
            </a:r>
            <a:r>
              <a:rPr dirty="0"/>
              <a:t>. </a:t>
            </a:r>
            <a:r>
              <a:rPr dirty="0" err="1"/>
              <a:t>Loggt</a:t>
            </a:r>
            <a:r>
              <a:rPr dirty="0"/>
              <a:t> </a:t>
            </a:r>
            <a:r>
              <a:rPr dirty="0" err="1"/>
              <a:t>sich</a:t>
            </a:r>
            <a:r>
              <a:rPr dirty="0"/>
              <a:t> </a:t>
            </a:r>
            <a:r>
              <a:rPr dirty="0" err="1"/>
              <a:t>ein</a:t>
            </a:r>
            <a:r>
              <a:rPr dirty="0"/>
              <a:t> </a:t>
            </a:r>
            <a:r>
              <a:rPr dirty="0" err="1"/>
              <a:t>anderes</a:t>
            </a:r>
            <a:r>
              <a:rPr dirty="0"/>
              <a:t> </a:t>
            </a:r>
            <a:r>
              <a:rPr dirty="0" err="1"/>
              <a:t>Mitglied</a:t>
            </a:r>
            <a:r>
              <a:rPr dirty="0"/>
              <a:t> </a:t>
            </a:r>
            <a:r>
              <a:rPr dirty="0" err="1"/>
              <a:t>ein</a:t>
            </a:r>
            <a:r>
              <a:rPr dirty="0"/>
              <a:t>, </a:t>
            </a:r>
            <a:r>
              <a:rPr dirty="0" err="1"/>
              <a:t>ist</a:t>
            </a:r>
            <a:r>
              <a:rPr dirty="0"/>
              <a:t> </a:t>
            </a:r>
            <a:r>
              <a:rPr dirty="0" err="1"/>
              <a:t>diese</a:t>
            </a:r>
            <a:r>
              <a:rPr dirty="0"/>
              <a:t> Option nicht </a:t>
            </a:r>
            <a:r>
              <a:rPr dirty="0" err="1"/>
              <a:t>verfügbar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Kommen</a:t>
            </a:r>
            <a:r>
              <a:rPr dirty="0"/>
              <a:t> </a:t>
            </a:r>
            <a:r>
              <a:rPr dirty="0" err="1"/>
              <a:t>wir</a:t>
            </a:r>
            <a:r>
              <a:rPr dirty="0"/>
              <a:t> </a:t>
            </a:r>
            <a:r>
              <a:rPr dirty="0" err="1"/>
              <a:t>zum</a:t>
            </a:r>
            <a:r>
              <a:rPr dirty="0"/>
              <a:t> </a:t>
            </a:r>
            <a:r>
              <a:rPr dirty="0" err="1"/>
              <a:t>Fazit</a:t>
            </a:r>
            <a:r>
              <a:rPr dirty="0"/>
              <a:t> und </a:t>
            </a:r>
            <a:r>
              <a:rPr dirty="0" err="1"/>
              <a:t>Ausblick</a:t>
            </a:r>
            <a:r>
              <a:rPr dirty="0"/>
              <a:t> </a:t>
            </a:r>
            <a:r>
              <a:rPr dirty="0" err="1"/>
              <a:t>unseres</a:t>
            </a:r>
            <a:r>
              <a:rPr dirty="0"/>
              <a:t> </a:t>
            </a:r>
            <a:r>
              <a:rPr dirty="0" err="1"/>
              <a:t>Projekts</a:t>
            </a:r>
            <a:r>
              <a:rPr dirty="0"/>
              <a:t>.</a:t>
            </a:r>
          </a:p>
          <a:p>
            <a:endParaRPr dirty="0"/>
          </a:p>
          <a:p>
            <a:r>
              <a:rPr dirty="0"/>
              <a:t>Haben </a:t>
            </a:r>
            <a:r>
              <a:rPr dirty="0" err="1"/>
              <a:t>wir</a:t>
            </a:r>
            <a:r>
              <a:rPr dirty="0"/>
              <a:t> </a:t>
            </a:r>
            <a:r>
              <a:rPr dirty="0" err="1"/>
              <a:t>unsere</a:t>
            </a:r>
            <a:r>
              <a:rPr dirty="0"/>
              <a:t> </a:t>
            </a:r>
            <a:r>
              <a:rPr dirty="0" err="1"/>
              <a:t>Ziele</a:t>
            </a:r>
            <a:r>
              <a:rPr dirty="0"/>
              <a:t> </a:t>
            </a:r>
            <a:r>
              <a:rPr dirty="0" err="1"/>
              <a:t>erreicht</a:t>
            </a:r>
            <a:r>
              <a:rPr dirty="0"/>
              <a:t>? </a:t>
            </a:r>
            <a:r>
              <a:rPr dirty="0" err="1"/>
              <a:t>Definitiv</a:t>
            </a:r>
            <a:r>
              <a:rPr dirty="0"/>
              <a:t>. Wir </a:t>
            </a:r>
            <a:r>
              <a:rPr dirty="0" err="1"/>
              <a:t>haben</a:t>
            </a:r>
            <a:r>
              <a:rPr dirty="0"/>
              <a:t> </a:t>
            </a:r>
            <a:r>
              <a:rPr dirty="0" err="1"/>
              <a:t>ein</a:t>
            </a:r>
            <a:r>
              <a:rPr dirty="0"/>
              <a:t> </a:t>
            </a:r>
            <a:r>
              <a:rPr dirty="0" err="1"/>
              <a:t>funktionierendes</a:t>
            </a:r>
            <a:r>
              <a:rPr dirty="0"/>
              <a:t> MVP auf die Beine </a:t>
            </a:r>
            <a:r>
              <a:rPr dirty="0" err="1"/>
              <a:t>gestellt</a:t>
            </a:r>
            <a:r>
              <a:rPr dirty="0"/>
              <a:t>, das </a:t>
            </a:r>
            <a:r>
              <a:rPr dirty="0" err="1"/>
              <a:t>stabil</a:t>
            </a:r>
            <a:r>
              <a:rPr dirty="0"/>
              <a:t> </a:t>
            </a:r>
            <a:r>
              <a:rPr dirty="0" err="1"/>
              <a:t>läuft</a:t>
            </a:r>
            <a:r>
              <a:rPr dirty="0"/>
              <a:t> und das </a:t>
            </a:r>
            <a:r>
              <a:rPr dirty="0" err="1"/>
              <a:t>Kernproblem</a:t>
            </a:r>
            <a:r>
              <a:rPr dirty="0"/>
              <a:t> der </a:t>
            </a:r>
            <a:r>
              <a:rPr dirty="0" err="1"/>
              <a:t>unübersichtlichen</a:t>
            </a:r>
            <a:r>
              <a:rPr dirty="0"/>
              <a:t> </a:t>
            </a:r>
            <a:r>
              <a:rPr dirty="0" err="1"/>
              <a:t>Terminabstimmung</a:t>
            </a:r>
            <a:r>
              <a:rPr dirty="0"/>
              <a:t> </a:t>
            </a:r>
            <a:r>
              <a:rPr dirty="0" err="1"/>
              <a:t>löst</a:t>
            </a:r>
            <a:r>
              <a:rPr dirty="0"/>
              <a:t>. Eine </a:t>
            </a:r>
            <a:r>
              <a:rPr dirty="0" err="1"/>
              <a:t>wichtige</a:t>
            </a:r>
            <a:r>
              <a:rPr dirty="0"/>
              <a:t> </a:t>
            </a:r>
            <a:r>
              <a:rPr dirty="0" err="1"/>
              <a:t>Erkenntnis</a:t>
            </a:r>
            <a:r>
              <a:rPr dirty="0"/>
              <a:t> war für </a:t>
            </a:r>
            <a:r>
              <a:rPr dirty="0" err="1"/>
              <a:t>uns</a:t>
            </a:r>
            <a:r>
              <a:rPr dirty="0"/>
              <a:t>, </a:t>
            </a:r>
            <a:r>
              <a:rPr dirty="0" err="1"/>
              <a:t>dass</a:t>
            </a:r>
            <a:r>
              <a:rPr dirty="0"/>
              <a:t> </a:t>
            </a:r>
            <a:r>
              <a:rPr dirty="0" err="1"/>
              <a:t>eine</a:t>
            </a:r>
            <a:r>
              <a:rPr dirty="0"/>
              <a:t> </a:t>
            </a:r>
            <a:r>
              <a:rPr dirty="0" err="1"/>
              <a:t>saubere</a:t>
            </a:r>
            <a:r>
              <a:rPr dirty="0"/>
              <a:t> </a:t>
            </a:r>
            <a:r>
              <a:rPr dirty="0" err="1"/>
              <a:t>Datenstrukturierung</a:t>
            </a:r>
            <a:r>
              <a:rPr dirty="0"/>
              <a:t> </a:t>
            </a:r>
            <a:r>
              <a:rPr dirty="0" err="1"/>
              <a:t>zu</a:t>
            </a:r>
            <a:r>
              <a:rPr dirty="0"/>
              <a:t> </a:t>
            </a:r>
            <a:r>
              <a:rPr dirty="0" err="1"/>
              <a:t>Beginn</a:t>
            </a:r>
            <a:r>
              <a:rPr dirty="0"/>
              <a:t> des </a:t>
            </a:r>
            <a:r>
              <a:rPr dirty="0" err="1"/>
              <a:t>Projekts</a:t>
            </a:r>
            <a:r>
              <a:rPr dirty="0"/>
              <a:t> </a:t>
            </a:r>
            <a:r>
              <a:rPr dirty="0" err="1"/>
              <a:t>im</a:t>
            </a:r>
            <a:r>
              <a:rPr dirty="0"/>
              <a:t> </a:t>
            </a:r>
            <a:r>
              <a:rPr dirty="0" err="1"/>
              <a:t>Nachgang</a:t>
            </a:r>
            <a:r>
              <a:rPr dirty="0"/>
              <a:t> </a:t>
            </a:r>
            <a:r>
              <a:rPr dirty="0" err="1"/>
              <a:t>extrem</a:t>
            </a:r>
            <a:r>
              <a:rPr dirty="0"/>
              <a:t> </a:t>
            </a:r>
            <a:r>
              <a:rPr dirty="0" err="1"/>
              <a:t>viel</a:t>
            </a:r>
            <a:r>
              <a:rPr dirty="0"/>
              <a:t> Arbeit </a:t>
            </a:r>
            <a:r>
              <a:rPr dirty="0" err="1"/>
              <a:t>erspart</a:t>
            </a:r>
            <a:r>
              <a:rPr dirty="0"/>
              <a:t>.</a:t>
            </a:r>
          </a:p>
          <a:p>
            <a:endParaRPr dirty="0"/>
          </a:p>
          <a:p>
            <a:r>
              <a:rPr dirty="0"/>
              <a:t>Nun </a:t>
            </a:r>
            <a:r>
              <a:rPr dirty="0" err="1"/>
              <a:t>zu</a:t>
            </a:r>
            <a:r>
              <a:rPr dirty="0"/>
              <a:t> </a:t>
            </a:r>
            <a:r>
              <a:rPr dirty="0" err="1"/>
              <a:t>unserer</a:t>
            </a:r>
            <a:r>
              <a:rPr dirty="0"/>
              <a:t> </a:t>
            </a:r>
            <a:r>
              <a:rPr dirty="0" err="1"/>
              <a:t>Arbeitsmethodik</a:t>
            </a:r>
            <a:r>
              <a:rPr dirty="0"/>
              <a:t>: Wir </a:t>
            </a:r>
            <a:r>
              <a:rPr dirty="0" err="1"/>
              <a:t>möchten</a:t>
            </a:r>
            <a:r>
              <a:rPr dirty="0"/>
              <a:t> </a:t>
            </a:r>
            <a:r>
              <a:rPr dirty="0" err="1"/>
              <a:t>ganz</a:t>
            </a:r>
            <a:r>
              <a:rPr dirty="0"/>
              <a:t> </a:t>
            </a:r>
            <a:r>
              <a:rPr dirty="0" err="1"/>
              <a:t>offen</a:t>
            </a:r>
            <a:r>
              <a:rPr dirty="0"/>
              <a:t> und </a:t>
            </a:r>
            <a:r>
              <a:rPr dirty="0" err="1"/>
              <a:t>ehrlich</a:t>
            </a:r>
            <a:r>
              <a:rPr dirty="0"/>
              <a:t> </a:t>
            </a:r>
            <a:r>
              <a:rPr dirty="0" err="1"/>
              <a:t>reflektieren</a:t>
            </a:r>
            <a:r>
              <a:rPr dirty="0"/>
              <a:t>, </a:t>
            </a:r>
            <a:r>
              <a:rPr dirty="0" err="1"/>
              <a:t>dass</a:t>
            </a:r>
            <a:r>
              <a:rPr dirty="0"/>
              <a:t> </a:t>
            </a:r>
            <a:r>
              <a:rPr dirty="0" err="1"/>
              <a:t>wir</a:t>
            </a:r>
            <a:r>
              <a:rPr dirty="0"/>
              <a:t> in </a:t>
            </a:r>
            <a:r>
              <a:rPr dirty="0" err="1"/>
              <a:t>diesem</a:t>
            </a:r>
            <a:r>
              <a:rPr dirty="0"/>
              <a:t> Projekt </a:t>
            </a:r>
            <a:r>
              <a:rPr dirty="0" err="1"/>
              <a:t>intensiv</a:t>
            </a:r>
            <a:r>
              <a:rPr dirty="0"/>
              <a:t> </a:t>
            </a:r>
            <a:r>
              <a:rPr dirty="0" err="1"/>
              <a:t>mit</a:t>
            </a:r>
            <a:r>
              <a:rPr dirty="0"/>
              <a:t> KI-</a:t>
            </a:r>
            <a:r>
              <a:rPr dirty="0" err="1"/>
              <a:t>Assistenten</a:t>
            </a:r>
            <a:r>
              <a:rPr dirty="0"/>
              <a:t> </a:t>
            </a:r>
            <a:r>
              <a:rPr dirty="0" err="1"/>
              <a:t>zusammengearbeitet</a:t>
            </a:r>
            <a:r>
              <a:rPr dirty="0"/>
              <a:t> </a:t>
            </a:r>
            <a:r>
              <a:rPr dirty="0" err="1"/>
              <a:t>haben</a:t>
            </a:r>
            <a:r>
              <a:rPr dirty="0"/>
              <a:t>. Da </a:t>
            </a:r>
            <a:r>
              <a:rPr dirty="0" err="1"/>
              <a:t>wir</a:t>
            </a:r>
            <a:r>
              <a:rPr dirty="0"/>
              <a:t> </a:t>
            </a:r>
            <a:r>
              <a:rPr dirty="0" err="1"/>
              <a:t>nur</a:t>
            </a:r>
            <a:r>
              <a:rPr dirty="0"/>
              <a:t> </a:t>
            </a:r>
            <a:r>
              <a:rPr dirty="0" err="1"/>
              <a:t>sehr</a:t>
            </a:r>
            <a:r>
              <a:rPr dirty="0"/>
              <a:t> </a:t>
            </a:r>
            <a:r>
              <a:rPr dirty="0" err="1"/>
              <a:t>wenig</a:t>
            </a:r>
            <a:r>
              <a:rPr dirty="0"/>
              <a:t> Zeit </a:t>
            </a:r>
            <a:r>
              <a:rPr dirty="0" err="1"/>
              <a:t>zur</a:t>
            </a:r>
            <a:r>
              <a:rPr dirty="0"/>
              <a:t> </a:t>
            </a:r>
            <a:r>
              <a:rPr dirty="0" err="1"/>
              <a:t>Verfügung</a:t>
            </a:r>
            <a:r>
              <a:rPr dirty="0"/>
              <a:t> </a:t>
            </a:r>
            <a:r>
              <a:rPr dirty="0" err="1"/>
              <a:t>hatten</a:t>
            </a:r>
            <a:r>
              <a:rPr dirty="0"/>
              <a:t>, war dies die </a:t>
            </a:r>
            <a:r>
              <a:rPr dirty="0" err="1"/>
              <a:t>einzige</a:t>
            </a:r>
            <a:r>
              <a:rPr dirty="0"/>
              <a:t> </a:t>
            </a:r>
            <a:r>
              <a:rPr dirty="0" err="1"/>
              <a:t>Möglichkeit</a:t>
            </a:r>
            <a:r>
              <a:rPr dirty="0"/>
              <a:t>, </a:t>
            </a:r>
            <a:r>
              <a:rPr dirty="0" err="1"/>
              <a:t>ein</a:t>
            </a:r>
            <a:r>
              <a:rPr dirty="0"/>
              <a:t> </a:t>
            </a:r>
            <a:r>
              <a:rPr dirty="0" err="1"/>
              <a:t>derart</a:t>
            </a:r>
            <a:r>
              <a:rPr dirty="0"/>
              <a:t> </a:t>
            </a:r>
            <a:r>
              <a:rPr dirty="0" err="1"/>
              <a:t>komplexes</a:t>
            </a:r>
            <a:r>
              <a:rPr dirty="0"/>
              <a:t> Full-Stack-Projekt </a:t>
            </a:r>
            <a:r>
              <a:rPr dirty="0" err="1"/>
              <a:t>mit</a:t>
            </a:r>
            <a:r>
              <a:rPr dirty="0"/>
              <a:t> Vue 3 Frontend, custom Styling und PostgreSQL-</a:t>
            </a:r>
            <a:r>
              <a:rPr dirty="0" err="1"/>
              <a:t>Datenbank</a:t>
            </a:r>
            <a:r>
              <a:rPr dirty="0"/>
              <a:t> </a:t>
            </a:r>
            <a:r>
              <a:rPr dirty="0" err="1"/>
              <a:t>sicher</a:t>
            </a:r>
            <a:r>
              <a:rPr dirty="0"/>
              <a:t> und </a:t>
            </a:r>
            <a:r>
              <a:rPr dirty="0" err="1"/>
              <a:t>sauber</a:t>
            </a:r>
            <a:r>
              <a:rPr dirty="0"/>
              <a:t> </a:t>
            </a:r>
            <a:r>
              <a:rPr dirty="0" err="1"/>
              <a:t>abzuschliessen</a:t>
            </a:r>
            <a:r>
              <a:rPr dirty="0"/>
              <a:t>. </a:t>
            </a:r>
            <a:r>
              <a:rPr dirty="0" err="1"/>
              <a:t>Anstatt</a:t>
            </a:r>
            <a:r>
              <a:rPr dirty="0"/>
              <a:t> </a:t>
            </a:r>
            <a:r>
              <a:rPr dirty="0" err="1"/>
              <a:t>stundenlang</a:t>
            </a:r>
            <a:r>
              <a:rPr dirty="0"/>
              <a:t> </a:t>
            </a:r>
            <a:r>
              <a:rPr dirty="0" err="1"/>
              <a:t>nach</a:t>
            </a:r>
            <a:r>
              <a:rPr dirty="0"/>
              <a:t> </a:t>
            </a:r>
            <a:r>
              <a:rPr dirty="0" err="1"/>
              <a:t>Syntaxfehlern</a:t>
            </a:r>
            <a:r>
              <a:rPr dirty="0"/>
              <a:t> </a:t>
            </a:r>
            <a:r>
              <a:rPr dirty="0" err="1"/>
              <a:t>im</a:t>
            </a:r>
            <a:r>
              <a:rPr dirty="0"/>
              <a:t> CSS </a:t>
            </a:r>
            <a:r>
              <a:rPr dirty="0" err="1"/>
              <a:t>oder</a:t>
            </a:r>
            <a:r>
              <a:rPr dirty="0"/>
              <a:t> </a:t>
            </a:r>
            <a:r>
              <a:rPr dirty="0" err="1"/>
              <a:t>fehlerhaften</a:t>
            </a:r>
            <a:r>
              <a:rPr dirty="0"/>
              <a:t> SQL-Joins </a:t>
            </a:r>
            <a:r>
              <a:rPr dirty="0" err="1"/>
              <a:t>zu</a:t>
            </a:r>
            <a:r>
              <a:rPr dirty="0"/>
              <a:t> </a:t>
            </a:r>
            <a:r>
              <a:rPr dirty="0" err="1"/>
              <a:t>suchen</a:t>
            </a:r>
            <a:r>
              <a:rPr dirty="0"/>
              <a:t>, </a:t>
            </a:r>
            <a:r>
              <a:rPr dirty="0" err="1"/>
              <a:t>konnten</a:t>
            </a:r>
            <a:r>
              <a:rPr dirty="0"/>
              <a:t> </a:t>
            </a:r>
            <a:r>
              <a:rPr dirty="0" err="1"/>
              <a:t>wir</a:t>
            </a:r>
            <a:r>
              <a:rPr dirty="0"/>
              <a:t> die KI </a:t>
            </a:r>
            <a:r>
              <a:rPr dirty="0" err="1"/>
              <a:t>nutzen</a:t>
            </a:r>
            <a:r>
              <a:rPr dirty="0"/>
              <a:t>, um Code-</a:t>
            </a:r>
            <a:r>
              <a:rPr dirty="0" err="1"/>
              <a:t>Segmente</a:t>
            </a:r>
            <a:r>
              <a:rPr dirty="0"/>
              <a:t> </a:t>
            </a:r>
            <a:r>
              <a:rPr dirty="0" err="1"/>
              <a:t>zu</a:t>
            </a:r>
            <a:r>
              <a:rPr dirty="0"/>
              <a:t> </a:t>
            </a:r>
            <a:r>
              <a:rPr dirty="0" err="1"/>
              <a:t>schreiben</a:t>
            </a:r>
            <a:r>
              <a:rPr dirty="0"/>
              <a:t> und </a:t>
            </a:r>
            <a:r>
              <a:rPr dirty="0" err="1"/>
              <a:t>abzusichern</a:t>
            </a:r>
            <a:r>
              <a:rPr dirty="0"/>
              <a:t>. Das war für </a:t>
            </a:r>
            <a:r>
              <a:rPr dirty="0" err="1"/>
              <a:t>uns</a:t>
            </a:r>
            <a:r>
              <a:rPr dirty="0"/>
              <a:t> </a:t>
            </a:r>
            <a:r>
              <a:rPr dirty="0" err="1"/>
              <a:t>eine</a:t>
            </a:r>
            <a:r>
              <a:rPr dirty="0"/>
              <a:t> </a:t>
            </a:r>
            <a:r>
              <a:rPr dirty="0" err="1"/>
              <a:t>hervorragende</a:t>
            </a:r>
            <a:r>
              <a:rPr dirty="0"/>
              <a:t> und </a:t>
            </a:r>
            <a:r>
              <a:rPr dirty="0" err="1"/>
              <a:t>zukunftsweisende</a:t>
            </a:r>
            <a:r>
              <a:rPr dirty="0"/>
              <a:t> </a:t>
            </a:r>
            <a:r>
              <a:rPr dirty="0" err="1"/>
              <a:t>Erfahrung</a:t>
            </a:r>
            <a:r>
              <a:rPr dirty="0"/>
              <a:t>, da AI-Assisted-Coding </a:t>
            </a:r>
            <a:r>
              <a:rPr dirty="0" err="1"/>
              <a:t>mittlerweile</a:t>
            </a:r>
            <a:r>
              <a:rPr dirty="0"/>
              <a:t> in der </a:t>
            </a:r>
            <a:r>
              <a:rPr dirty="0" err="1"/>
              <a:t>professionellen</a:t>
            </a:r>
            <a:r>
              <a:rPr dirty="0"/>
              <a:t> </a:t>
            </a:r>
            <a:r>
              <a:rPr dirty="0" err="1"/>
              <a:t>Softwareentwicklung</a:t>
            </a:r>
            <a:r>
              <a:rPr dirty="0"/>
              <a:t> </a:t>
            </a:r>
            <a:r>
              <a:rPr dirty="0" err="1"/>
              <a:t>zum</a:t>
            </a:r>
            <a:r>
              <a:rPr dirty="0"/>
              <a:t> Standard </a:t>
            </a:r>
            <a:r>
              <a:rPr dirty="0" err="1"/>
              <a:t>gehört</a:t>
            </a:r>
            <a:r>
              <a:rPr dirty="0"/>
              <a:t>. Es hat </a:t>
            </a:r>
            <a:r>
              <a:rPr dirty="0" err="1"/>
              <a:t>uns</a:t>
            </a:r>
            <a:r>
              <a:rPr dirty="0"/>
              <a:t> </a:t>
            </a:r>
            <a:r>
              <a:rPr dirty="0" err="1"/>
              <a:t>gezeigt</a:t>
            </a:r>
            <a:r>
              <a:rPr dirty="0"/>
              <a:t>, </a:t>
            </a:r>
            <a:r>
              <a:rPr dirty="0" err="1"/>
              <a:t>wie</a:t>
            </a:r>
            <a:r>
              <a:rPr dirty="0"/>
              <a:t> man </a:t>
            </a:r>
            <a:r>
              <a:rPr dirty="0" err="1"/>
              <a:t>durch</a:t>
            </a:r>
            <a:r>
              <a:rPr dirty="0"/>
              <a:t> </a:t>
            </a:r>
            <a:r>
              <a:rPr dirty="0" err="1"/>
              <a:t>präzise</a:t>
            </a:r>
            <a:r>
              <a:rPr dirty="0"/>
              <a:t> </a:t>
            </a:r>
            <a:r>
              <a:rPr dirty="0" err="1"/>
              <a:t>Anweisungen</a:t>
            </a:r>
            <a:r>
              <a:rPr dirty="0"/>
              <a:t> und </a:t>
            </a:r>
            <a:r>
              <a:rPr dirty="0" err="1"/>
              <a:t>logisches</a:t>
            </a:r>
            <a:r>
              <a:rPr dirty="0"/>
              <a:t> </a:t>
            </a:r>
            <a:r>
              <a:rPr dirty="0" err="1"/>
              <a:t>Mitdenken</a:t>
            </a:r>
            <a:r>
              <a:rPr dirty="0"/>
              <a:t> </a:t>
            </a:r>
            <a:r>
              <a:rPr dirty="0" err="1"/>
              <a:t>als</a:t>
            </a:r>
            <a:r>
              <a:rPr dirty="0"/>
              <a:t> </a:t>
            </a:r>
            <a:r>
              <a:rPr dirty="0" err="1"/>
              <a:t>Entwickler</a:t>
            </a:r>
            <a:r>
              <a:rPr dirty="0"/>
              <a:t> </a:t>
            </a:r>
            <a:r>
              <a:rPr dirty="0" err="1"/>
              <a:t>ein</a:t>
            </a:r>
            <a:r>
              <a:rPr dirty="0"/>
              <a:t> </a:t>
            </a:r>
            <a:r>
              <a:rPr dirty="0" err="1"/>
              <a:t>Vielfaches</a:t>
            </a:r>
            <a:r>
              <a:rPr dirty="0"/>
              <a:t> an </a:t>
            </a:r>
            <a:r>
              <a:rPr dirty="0" err="1"/>
              <a:t>Produktivität</a:t>
            </a:r>
            <a:r>
              <a:rPr dirty="0"/>
              <a:t> </a:t>
            </a:r>
            <a:r>
              <a:rPr dirty="0" err="1"/>
              <a:t>erzielen</a:t>
            </a:r>
            <a:r>
              <a:rPr dirty="0"/>
              <a:t> </a:t>
            </a:r>
            <a:r>
              <a:rPr dirty="0" err="1"/>
              <a:t>kann</a:t>
            </a:r>
            <a:r>
              <a:rPr dirty="0"/>
              <a:t>.</a:t>
            </a:r>
          </a:p>
          <a:p>
            <a:endParaRPr dirty="0"/>
          </a:p>
          <a:p>
            <a:r>
              <a:rPr dirty="0"/>
              <a:t>Für die Zukunft </a:t>
            </a:r>
            <a:r>
              <a:rPr dirty="0" err="1"/>
              <a:t>haben</a:t>
            </a:r>
            <a:r>
              <a:rPr dirty="0"/>
              <a:t> </a:t>
            </a:r>
            <a:r>
              <a:rPr dirty="0" err="1"/>
              <a:t>wir</a:t>
            </a:r>
            <a:r>
              <a:rPr dirty="0"/>
              <a:t> </a:t>
            </a:r>
            <a:r>
              <a:rPr dirty="0" err="1"/>
              <a:t>bereits</a:t>
            </a:r>
            <a:r>
              <a:rPr dirty="0"/>
              <a:t> </a:t>
            </a:r>
            <a:r>
              <a:rPr dirty="0" err="1"/>
              <a:t>Pläne</a:t>
            </a:r>
            <a:r>
              <a:rPr dirty="0"/>
              <a:t> </a:t>
            </a:r>
            <a:r>
              <a:rPr dirty="0" err="1"/>
              <a:t>zur</a:t>
            </a:r>
            <a:r>
              <a:rPr dirty="0"/>
              <a:t> </a:t>
            </a:r>
            <a:r>
              <a:rPr dirty="0" err="1"/>
              <a:t>Erweiterung</a:t>
            </a:r>
            <a:r>
              <a:rPr dirty="0"/>
              <a:t>. Wir </a:t>
            </a:r>
            <a:r>
              <a:rPr dirty="0" err="1"/>
              <a:t>möchten</a:t>
            </a:r>
            <a:r>
              <a:rPr dirty="0"/>
              <a:t> </a:t>
            </a:r>
            <a:r>
              <a:rPr dirty="0" err="1"/>
              <a:t>eine</a:t>
            </a:r>
            <a:r>
              <a:rPr dirty="0"/>
              <a:t> </a:t>
            </a:r>
            <a:r>
              <a:rPr dirty="0" err="1"/>
              <a:t>vollwertige</a:t>
            </a:r>
            <a:r>
              <a:rPr dirty="0"/>
              <a:t> JWT-</a:t>
            </a:r>
            <a:r>
              <a:rPr dirty="0" err="1"/>
              <a:t>Authentifizierung</a:t>
            </a:r>
            <a:r>
              <a:rPr dirty="0"/>
              <a:t> </a:t>
            </a:r>
            <a:r>
              <a:rPr dirty="0" err="1"/>
              <a:t>einbauen</a:t>
            </a:r>
            <a:r>
              <a:rPr dirty="0"/>
              <a:t>, </a:t>
            </a:r>
            <a:r>
              <a:rPr dirty="0" err="1"/>
              <a:t>damit</a:t>
            </a:r>
            <a:r>
              <a:rPr dirty="0"/>
              <a:t> </a:t>
            </a:r>
            <a:r>
              <a:rPr dirty="0" err="1"/>
              <a:t>jeder</a:t>
            </a:r>
            <a:r>
              <a:rPr dirty="0"/>
              <a:t> </a:t>
            </a:r>
            <a:r>
              <a:rPr dirty="0" err="1"/>
              <a:t>Nutzer</a:t>
            </a:r>
            <a:r>
              <a:rPr dirty="0"/>
              <a:t> sein </a:t>
            </a:r>
            <a:r>
              <a:rPr dirty="0" err="1"/>
              <a:t>eigenes</a:t>
            </a:r>
            <a:r>
              <a:rPr dirty="0"/>
              <a:t>, </a:t>
            </a:r>
            <a:r>
              <a:rPr dirty="0" err="1"/>
              <a:t>passwortgeschütztes</a:t>
            </a:r>
            <a:r>
              <a:rPr dirty="0"/>
              <a:t> </a:t>
            </a:r>
            <a:r>
              <a:rPr dirty="0" err="1"/>
              <a:t>Konto</a:t>
            </a:r>
            <a:r>
              <a:rPr dirty="0"/>
              <a:t> </a:t>
            </a:r>
            <a:r>
              <a:rPr dirty="0" err="1"/>
              <a:t>besitzt</a:t>
            </a:r>
            <a:r>
              <a:rPr dirty="0"/>
              <a:t>. </a:t>
            </a:r>
            <a:r>
              <a:rPr dirty="0" err="1"/>
              <a:t>Zudem</a:t>
            </a:r>
            <a:r>
              <a:rPr dirty="0"/>
              <a:t> </a:t>
            </a:r>
            <a:r>
              <a:rPr dirty="0" err="1"/>
              <a:t>planen</a:t>
            </a:r>
            <a:r>
              <a:rPr dirty="0"/>
              <a:t> </a:t>
            </a:r>
            <a:r>
              <a:rPr dirty="0" err="1"/>
              <a:t>wir</a:t>
            </a:r>
            <a:r>
              <a:rPr dirty="0"/>
              <a:t> </a:t>
            </a:r>
            <a:r>
              <a:rPr dirty="0" err="1"/>
              <a:t>eine</a:t>
            </a:r>
            <a:r>
              <a:rPr dirty="0"/>
              <a:t> Export-</a:t>
            </a:r>
            <a:r>
              <a:rPr dirty="0" err="1"/>
              <a:t>Schnittstelle</a:t>
            </a:r>
            <a:r>
              <a:rPr dirty="0"/>
              <a:t> </a:t>
            </a:r>
            <a:r>
              <a:rPr dirty="0" err="1"/>
              <a:t>zu</a:t>
            </a:r>
            <a:r>
              <a:rPr dirty="0"/>
              <a:t> Google und Apple </a:t>
            </a:r>
            <a:r>
              <a:rPr dirty="0" err="1"/>
              <a:t>Kalendern</a:t>
            </a:r>
            <a:r>
              <a:rPr dirty="0"/>
              <a:t> </a:t>
            </a:r>
            <a:r>
              <a:rPr dirty="0" err="1"/>
              <a:t>sowie</a:t>
            </a:r>
            <a:r>
              <a:rPr dirty="0"/>
              <a:t> </a:t>
            </a:r>
            <a:r>
              <a:rPr dirty="0" err="1"/>
              <a:t>automatische</a:t>
            </a:r>
            <a:r>
              <a:rPr dirty="0"/>
              <a:t> Push-</a:t>
            </a:r>
            <a:r>
              <a:rPr dirty="0" err="1"/>
              <a:t>Benachrichtigungen</a:t>
            </a:r>
            <a:r>
              <a:rPr dirty="0"/>
              <a:t> </a:t>
            </a:r>
            <a:r>
              <a:rPr dirty="0" err="1"/>
              <a:t>bei</a:t>
            </a:r>
            <a:r>
              <a:rPr dirty="0"/>
              <a:t> </a:t>
            </a:r>
            <a:r>
              <a:rPr dirty="0" err="1"/>
              <a:t>Abstimmungen</a:t>
            </a:r>
            <a:r>
              <a:rPr dirty="0"/>
              <a:t>.</a:t>
            </a:r>
          </a:p>
          <a:p>
            <a:endParaRPr dirty="0"/>
          </a:p>
          <a:p>
            <a:r>
              <a:rPr dirty="0"/>
              <a:t>Damit </a:t>
            </a:r>
            <a:r>
              <a:rPr dirty="0" err="1"/>
              <a:t>sind</a:t>
            </a:r>
            <a:r>
              <a:rPr dirty="0"/>
              <a:t> </a:t>
            </a:r>
            <a:r>
              <a:rPr dirty="0" err="1"/>
              <a:t>wir</a:t>
            </a:r>
            <a:r>
              <a:rPr dirty="0"/>
              <a:t> am Ende </a:t>
            </a:r>
            <a:r>
              <a:rPr dirty="0" err="1"/>
              <a:t>unserer</a:t>
            </a:r>
            <a:r>
              <a:rPr dirty="0"/>
              <a:t> </a:t>
            </a:r>
            <a:r>
              <a:rPr dirty="0" err="1"/>
              <a:t>Präsentation</a:t>
            </a:r>
            <a:r>
              <a:rPr dirty="0"/>
              <a:t> </a:t>
            </a:r>
            <a:r>
              <a:rPr dirty="0" err="1"/>
              <a:t>angelangt</a:t>
            </a:r>
            <a:r>
              <a:rPr dirty="0"/>
              <a:t>. Wir </a:t>
            </a:r>
            <a:r>
              <a:rPr dirty="0" err="1"/>
              <a:t>bedanken</a:t>
            </a:r>
            <a:r>
              <a:rPr dirty="0"/>
              <a:t> </a:t>
            </a:r>
            <a:r>
              <a:rPr dirty="0" err="1"/>
              <a:t>sich</a:t>
            </a:r>
            <a:r>
              <a:rPr dirty="0"/>
              <a:t> </a:t>
            </a:r>
            <a:r>
              <a:rPr dirty="0" err="1"/>
              <a:t>herzlich</a:t>
            </a:r>
            <a:r>
              <a:rPr dirty="0"/>
              <a:t> für </a:t>
            </a:r>
            <a:r>
              <a:rPr dirty="0" err="1"/>
              <a:t>Ihre</a:t>
            </a:r>
            <a:r>
              <a:rPr dirty="0"/>
              <a:t> </a:t>
            </a:r>
            <a:r>
              <a:rPr dirty="0" err="1"/>
              <a:t>Aufmerksamkeit</a:t>
            </a:r>
            <a:r>
              <a:rPr dirty="0"/>
              <a:t> und </a:t>
            </a:r>
            <a:r>
              <a:rPr dirty="0" err="1"/>
              <a:t>freuen</a:t>
            </a:r>
            <a:r>
              <a:rPr dirty="0"/>
              <a:t> </a:t>
            </a:r>
            <a:r>
              <a:rPr dirty="0" err="1"/>
              <a:t>uns</a:t>
            </a:r>
            <a:r>
              <a:rPr dirty="0"/>
              <a:t> nun auf </a:t>
            </a:r>
            <a:r>
              <a:rPr dirty="0" err="1"/>
              <a:t>Ihre</a:t>
            </a:r>
            <a:r>
              <a:rPr dirty="0"/>
              <a:t> </a:t>
            </a:r>
            <a:r>
              <a:rPr dirty="0" err="1"/>
              <a:t>Fragen</a:t>
            </a:r>
            <a:r>
              <a:rPr dirty="0"/>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914400" y="1645920"/>
            <a:ext cx="10362895" cy="4114800"/>
          </a:xfrm>
          <a:prstGeom prst="rect">
            <a:avLst/>
          </a:prstGeom>
          <a:noFill/>
        </p:spPr>
        <p:txBody>
          <a:bodyPr wrap="square">
            <a:spAutoFit/>
          </a:bodyPr>
          <a:lstStyle/>
          <a:p>
            <a:pPr algn="ctr">
              <a:defRPr sz="6800" b="1">
                <a:solidFill>
                  <a:srgbClr val="14B8A6"/>
                </a:solidFill>
                <a:latin typeface="Outfit"/>
              </a:defRPr>
            </a:pPr>
            <a:r>
              <a:t>MeetPoint</a:t>
            </a:r>
          </a:p>
          <a:p>
            <a:pPr algn="ctr">
              <a:spcBef>
                <a:spcPts val="1000"/>
              </a:spcBef>
              <a:spcAft>
                <a:spcPts val="4500"/>
              </a:spcAft>
              <a:defRPr sz="2400">
                <a:solidFill>
                  <a:srgbClr val="FFFFFF"/>
                </a:solidFill>
                <a:latin typeface="Outfit"/>
              </a:defRPr>
            </a:pPr>
            <a:r>
              <a:t>Die smarte Web-App für Gruppen-Aktivitäten und Terminfindung</a:t>
            </a:r>
          </a:p>
          <a:p>
            <a:pPr algn="ctr">
              <a:defRPr sz="1600">
                <a:solidFill>
                  <a:srgbClr val="94A3B8"/>
                </a:solidFill>
                <a:latin typeface="Outfit"/>
              </a:defRPr>
            </a:pPr>
            <a:r>
              <a:t>Modul M 306 — Abschlusspräsentation &amp; Produktdemo</a:t>
            </a:r>
          </a:p>
          <a:p>
            <a:pPr algn="ctr">
              <a:spcBef>
                <a:spcPts val="600"/>
              </a:spcBef>
              <a:defRPr sz="1400">
                <a:solidFill>
                  <a:srgbClr val="94A3B8"/>
                </a:solidFill>
                <a:latin typeface="Outfit"/>
              </a:defRPr>
            </a:pPr>
            <a:r>
              <a:t>Vorgestellt von: Boris &amp; Projektteam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rPr dirty="0" err="1"/>
              <a:t>Projektübersicht</a:t>
            </a:r>
            <a:r>
              <a:rPr dirty="0"/>
              <a:t>: </a:t>
            </a:r>
            <a:r>
              <a:rPr dirty="0" err="1"/>
              <a:t>Ausgangslage</a:t>
            </a:r>
            <a:r>
              <a:rPr dirty="0"/>
              <a:t> &amp; Motivation</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DIE AUSGANGSLAGE (DAS PROBLEM)</a:t>
            </a:r>
          </a:p>
          <a:p>
            <a:pPr>
              <a:spcAft>
                <a:spcPts val="800"/>
              </a:spcAft>
              <a:defRPr sz="1400">
                <a:solidFill>
                  <a:srgbClr val="94A3B8"/>
                </a:solidFill>
                <a:latin typeface="Outfit"/>
              </a:defRPr>
            </a:pPr>
            <a:r>
              <a:t>•  </a:t>
            </a:r>
            <a:r>
              <a:rPr sz="1400" b="1">
                <a:solidFill>
                  <a:srgbClr val="FFFFFF"/>
                </a:solidFill>
                <a:latin typeface="Outfit"/>
              </a:rPr>
              <a:t>Nachrichten-Flut:</a:t>
            </a:r>
            <a:r>
              <a:rPr sz="1400" b="0">
                <a:solidFill>
                  <a:srgbClr val="FFFFFF"/>
                </a:solidFill>
                <a:latin typeface="Outfit"/>
              </a:rPr>
              <a:t> Relevante Termindetails gehen in Gruppenchats extrem schnell unter.</a:t>
            </a:r>
          </a:p>
          <a:p>
            <a:pPr>
              <a:spcAft>
                <a:spcPts val="800"/>
              </a:spcAft>
              <a:defRPr sz="1400">
                <a:solidFill>
                  <a:srgbClr val="94A3B8"/>
                </a:solidFill>
                <a:latin typeface="Outfit"/>
              </a:defRPr>
            </a:pPr>
            <a:r>
              <a:t>•  </a:t>
            </a:r>
            <a:r>
              <a:rPr sz="1400" b="1">
                <a:solidFill>
                  <a:srgbClr val="FFFFFF"/>
                </a:solidFill>
                <a:latin typeface="Outfit"/>
              </a:rPr>
              <a:t>Mangelnde Übersicht:</a:t>
            </a:r>
            <a:r>
              <a:rPr sz="1400" b="0">
                <a:solidFill>
                  <a:srgbClr val="FFFFFF"/>
                </a:solidFill>
                <a:latin typeface="Outfit"/>
              </a:rPr>
              <a:t> Es gibt keinen zentralen Ort für Gruppen-Aktivitäten.</a:t>
            </a:r>
          </a:p>
          <a:p>
            <a:pPr>
              <a:spcAft>
                <a:spcPts val="800"/>
              </a:spcAft>
              <a:defRPr sz="1400">
                <a:solidFill>
                  <a:srgbClr val="94A3B8"/>
                </a:solidFill>
                <a:latin typeface="Outfit"/>
              </a:defRPr>
            </a:pPr>
            <a:r>
              <a:t>•  </a:t>
            </a:r>
            <a:r>
              <a:rPr sz="1400" b="1">
                <a:solidFill>
                  <a:srgbClr val="FFFFFF"/>
                </a:solidFill>
                <a:latin typeface="Outfit"/>
              </a:rPr>
              <a:t>Unflexible Alternativen:</a:t>
            </a:r>
            <a:r>
              <a:rPr sz="1400" b="0">
                <a:solidFill>
                  <a:srgbClr val="FFFFFF"/>
                </a:solidFill>
                <a:latin typeface="Outfit"/>
              </a:rPr>
              <a:t> Doodle ist unpersönlich und mit Werbung überladen; WhatsApp-Polls sind kurzlebig und bieten keine persistenten Gruppen.</a:t>
            </a:r>
          </a:p>
          <a:p>
            <a:pPr>
              <a:spcAft>
                <a:spcPts val="800"/>
              </a:spcAft>
              <a:defRPr sz="1400">
                <a:solidFill>
                  <a:srgbClr val="94A3B8"/>
                </a:solidFill>
                <a:latin typeface="Outfit"/>
              </a:defRPr>
            </a:pPr>
            <a:r>
              <a:t>•  </a:t>
            </a:r>
            <a:r>
              <a:rPr sz="1400" b="1">
                <a:solidFill>
                  <a:srgbClr val="FFFFFF"/>
                </a:solidFill>
                <a:latin typeface="Outfit"/>
              </a:rPr>
              <a:t>Frustration:</a:t>
            </a:r>
            <a:r>
              <a:rPr sz="1400" b="0">
                <a:solidFill>
                  <a:srgbClr val="FFFFFF"/>
                </a:solidFill>
                <a:latin typeface="Outfit"/>
              </a:rPr>
              <a:t> Hoher Zeitaufwand für einfachste Terminabsprachen.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DAS PROJEKTZIEL (DIE LÖSUNG)</a:t>
            </a:r>
          </a:p>
          <a:p>
            <a:pPr>
              <a:spcAft>
                <a:spcPts val="800"/>
              </a:spcAft>
              <a:defRPr sz="1400">
                <a:solidFill>
                  <a:srgbClr val="94A3B8"/>
                </a:solidFill>
                <a:latin typeface="Outfit"/>
              </a:defRPr>
            </a:pPr>
            <a:r>
              <a:t>•  </a:t>
            </a:r>
            <a:r>
              <a:rPr sz="1400" b="1">
                <a:solidFill>
                  <a:srgbClr val="FFFFFF"/>
                </a:solidFill>
                <a:latin typeface="Outfit"/>
              </a:rPr>
              <a:t>Zentraler Hub:</a:t>
            </a:r>
            <a:r>
              <a:rPr sz="1400" b="0">
                <a:solidFill>
                  <a:srgbClr val="FFFFFF"/>
                </a:solidFill>
                <a:latin typeface="Outfit"/>
              </a:rPr>
              <a:t> Jede Freundesgruppe erhält einen eigenen, geschützten Workspace.</a:t>
            </a:r>
          </a:p>
          <a:p>
            <a:pPr>
              <a:spcAft>
                <a:spcPts val="800"/>
              </a:spcAft>
              <a:defRPr sz="1400">
                <a:solidFill>
                  <a:srgbClr val="94A3B8"/>
                </a:solidFill>
                <a:latin typeface="Outfit"/>
              </a:defRPr>
            </a:pPr>
            <a:r>
              <a:t>•  </a:t>
            </a:r>
            <a:r>
              <a:rPr sz="1400" b="1">
                <a:solidFill>
                  <a:srgbClr val="FFFFFF"/>
                </a:solidFill>
                <a:latin typeface="Outfit"/>
              </a:rPr>
              <a:t>Interessen-Matching:</a:t>
            </a:r>
            <a:r>
              <a:rPr sz="1400" b="0">
                <a:solidFill>
                  <a:srgbClr val="FFFFFF"/>
                </a:solidFill>
                <a:latin typeface="Outfit"/>
              </a:rPr>
              <a:t> Mitglieder hinterlegen Interessen, um passende Aktivitäten zu finden.</a:t>
            </a:r>
          </a:p>
          <a:p>
            <a:pPr>
              <a:spcAft>
                <a:spcPts val="800"/>
              </a:spcAft>
              <a:defRPr sz="1400">
                <a:solidFill>
                  <a:srgbClr val="94A3B8"/>
                </a:solidFill>
                <a:latin typeface="Outfit"/>
              </a:defRPr>
            </a:pPr>
            <a:r>
              <a:t>•  </a:t>
            </a:r>
            <a:r>
              <a:rPr sz="1400" b="1">
                <a:solidFill>
                  <a:srgbClr val="FFFFFF"/>
                </a:solidFill>
                <a:latin typeface="Outfit"/>
              </a:rPr>
              <a:t>Integrierte Abstimmung:</a:t>
            </a:r>
            <a:r>
              <a:rPr sz="1400" b="0">
                <a:solidFill>
                  <a:srgbClr val="FFFFFF"/>
                </a:solidFill>
                <a:latin typeface="Outfit"/>
              </a:rPr>
              <a:t> Unkompliziertes Abstimmen per Daumen-Voting direkt an der Aktivität.</a:t>
            </a:r>
          </a:p>
          <a:p>
            <a:pPr>
              <a:spcAft>
                <a:spcPts val="800"/>
              </a:spcAft>
              <a:defRPr sz="1400">
                <a:solidFill>
                  <a:srgbClr val="94A3B8"/>
                </a:solidFill>
                <a:latin typeface="Outfit"/>
              </a:defRPr>
            </a:pPr>
            <a:r>
              <a:t>•  </a:t>
            </a:r>
            <a:r>
              <a:rPr sz="1400" b="1">
                <a:solidFill>
                  <a:srgbClr val="FFFFFF"/>
                </a:solidFill>
                <a:latin typeface="Outfit"/>
              </a:rPr>
              <a:t>Automatische Auswertung:</a:t>
            </a:r>
            <a:r>
              <a:rPr sz="1400" b="0">
                <a:solidFill>
                  <a:srgbClr val="FFFFFF"/>
                </a:solidFill>
                <a:latin typeface="Outfit"/>
              </a:rPr>
              <a:t> Die App ermittelt in Echtzeit den Sieger-Termin (🏆 Bester Termin).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rPr dirty="0" err="1"/>
              <a:t>Analyse</a:t>
            </a:r>
            <a:r>
              <a:rPr dirty="0"/>
              <a:t> und </a:t>
            </a:r>
            <a:r>
              <a:rPr dirty="0" err="1"/>
              <a:t>Entscheid</a:t>
            </a:r>
            <a:r>
              <a:rPr dirty="0"/>
              <a:t>: </a:t>
            </a:r>
            <a:r>
              <a:rPr dirty="0" err="1"/>
              <a:t>Anforderungen</a:t>
            </a:r>
            <a:r>
              <a:rPr dirty="0"/>
              <a:t> &amp; </a:t>
            </a:r>
            <a:r>
              <a:rPr dirty="0" err="1"/>
              <a:t>Architektur</a:t>
            </a:r>
            <a:endParaRPr dirty="0"/>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FUNKTIONALE ANFORDERUNGEN</a:t>
            </a:r>
          </a:p>
          <a:p>
            <a:pPr>
              <a:spcAft>
                <a:spcPts val="800"/>
              </a:spcAft>
              <a:defRPr sz="1400">
                <a:solidFill>
                  <a:srgbClr val="94A3B8"/>
                </a:solidFill>
                <a:latin typeface="Outfit"/>
              </a:defRPr>
            </a:pPr>
            <a:r>
              <a:t>•  </a:t>
            </a:r>
            <a:r>
              <a:rPr sz="1400" b="1">
                <a:solidFill>
                  <a:srgbClr val="FFFFFF"/>
                </a:solidFill>
                <a:latin typeface="Outfit"/>
              </a:rPr>
              <a:t>Gruppenverwaltung:</a:t>
            </a:r>
            <a:r>
              <a:rPr sz="1400" b="0">
                <a:solidFill>
                  <a:srgbClr val="FFFFFF"/>
                </a:solidFill>
                <a:latin typeface="Outfit"/>
              </a:rPr>
              <a:t> Zuordnung von Rollen (Besitzer vs. Mitglieder).</a:t>
            </a:r>
          </a:p>
          <a:p>
            <a:pPr>
              <a:spcAft>
                <a:spcPts val="800"/>
              </a:spcAft>
              <a:defRPr sz="1400">
                <a:solidFill>
                  <a:srgbClr val="94A3B8"/>
                </a:solidFill>
                <a:latin typeface="Outfit"/>
              </a:defRPr>
            </a:pPr>
            <a:r>
              <a:t>•  </a:t>
            </a:r>
            <a:r>
              <a:rPr sz="1400" b="1">
                <a:solidFill>
                  <a:srgbClr val="FFFFFF"/>
                </a:solidFill>
                <a:latin typeface="Outfit"/>
              </a:rPr>
              <a:t>Interessen-Profil:</a:t>
            </a:r>
            <a:r>
              <a:rPr sz="1400" b="0">
                <a:solidFill>
                  <a:srgbClr val="FFFFFF"/>
                </a:solidFill>
                <a:latin typeface="Outfit"/>
              </a:rPr>
              <a:t> Zuordnung von Tags zu Usern und Aktivitäten zur Filterung.</a:t>
            </a:r>
          </a:p>
          <a:p>
            <a:pPr>
              <a:spcAft>
                <a:spcPts val="800"/>
              </a:spcAft>
              <a:defRPr sz="1400">
                <a:solidFill>
                  <a:srgbClr val="94A3B8"/>
                </a:solidFill>
                <a:latin typeface="Outfit"/>
              </a:defRPr>
            </a:pPr>
            <a:r>
              <a:t>•  </a:t>
            </a:r>
            <a:r>
              <a:rPr sz="1400" b="1">
                <a:solidFill>
                  <a:srgbClr val="FFFFFF"/>
                </a:solidFill>
                <a:latin typeface="Outfit"/>
              </a:rPr>
              <a:t>Reaktive Stimmabgabe:</a:t>
            </a:r>
            <a:r>
              <a:rPr sz="1400" b="0">
                <a:solidFill>
                  <a:srgbClr val="FFFFFF"/>
                </a:solidFill>
                <a:latin typeface="Outfit"/>
              </a:rPr>
              <a:t> Stimmenänderungen müssen sofort grafisch reflektiert werden.</a:t>
            </a:r>
          </a:p>
          <a:p>
            <a:pPr>
              <a:spcAft>
                <a:spcPts val="800"/>
              </a:spcAft>
              <a:defRPr sz="1400">
                <a:solidFill>
                  <a:srgbClr val="94A3B8"/>
                </a:solidFill>
                <a:latin typeface="Outfit"/>
              </a:defRPr>
            </a:pPr>
            <a:r>
              <a:t>•  </a:t>
            </a:r>
            <a:r>
              <a:rPr sz="1400" b="1">
                <a:solidFill>
                  <a:srgbClr val="FFFFFF"/>
                </a:solidFill>
                <a:latin typeface="Outfit"/>
              </a:rPr>
              <a:t>Auswertungs-Algorithmus:</a:t>
            </a:r>
            <a:r>
              <a:rPr sz="1400" b="0">
                <a:solidFill>
                  <a:srgbClr val="FFFFFF"/>
                </a:solidFill>
                <a:latin typeface="Outfit"/>
              </a:rPr>
              <a:t> Live-Ermittlung des Termins mit den meisten Zusagen.</a:t>
            </a:r>
          </a:p>
          <a:p>
            <a:pPr>
              <a:spcAft>
                <a:spcPts val="800"/>
              </a:spcAft>
              <a:defRPr sz="1400">
                <a:solidFill>
                  <a:srgbClr val="94A3B8"/>
                </a:solidFill>
                <a:latin typeface="Outfit"/>
              </a:defRPr>
            </a:pPr>
            <a:r>
              <a:t>•  </a:t>
            </a:r>
            <a:r>
              <a:rPr sz="1400" b="1">
                <a:solidFill>
                  <a:srgbClr val="FFFFFF"/>
                </a:solidFill>
                <a:latin typeface="Outfit"/>
              </a:rPr>
              <a:t>Premium Design:</a:t>
            </a:r>
            <a:r>
              <a:rPr sz="1400" b="0">
                <a:solidFill>
                  <a:srgbClr val="FFFFFF"/>
                </a:solidFill>
                <a:latin typeface="Outfit"/>
              </a:rPr>
              <a:t> Konsistenter, augenfreundlicher Dark-Mode mit Glassmorphism-Effekten.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TECHNISCHE UMSETZUNG</a:t>
            </a:r>
          </a:p>
          <a:p>
            <a:pPr>
              <a:spcAft>
                <a:spcPts val="800"/>
              </a:spcAft>
              <a:defRPr sz="1400">
                <a:solidFill>
                  <a:srgbClr val="94A3B8"/>
                </a:solidFill>
                <a:latin typeface="Outfit"/>
              </a:defRPr>
            </a:pPr>
            <a:r>
              <a:t>•  </a:t>
            </a:r>
            <a:r>
              <a:rPr sz="1400" b="1">
                <a:solidFill>
                  <a:srgbClr val="FFFFFF"/>
                </a:solidFill>
                <a:latin typeface="Outfit"/>
              </a:rPr>
              <a:t>Frontend:</a:t>
            </a:r>
            <a:r>
              <a:rPr sz="1400" b="0">
                <a:solidFill>
                  <a:srgbClr val="FFFFFF"/>
                </a:solidFill>
                <a:latin typeface="Outfit"/>
              </a:rPr>
              <a:t> Vue.js 3 (Vite, TypeScript) für eine modulare, performante und reaktive Komponenten-Struktur.</a:t>
            </a:r>
          </a:p>
          <a:p>
            <a:pPr>
              <a:spcAft>
                <a:spcPts val="800"/>
              </a:spcAft>
              <a:defRPr sz="1400">
                <a:solidFill>
                  <a:srgbClr val="94A3B8"/>
                </a:solidFill>
                <a:latin typeface="Outfit"/>
              </a:defRPr>
            </a:pPr>
            <a:r>
              <a:t>•  </a:t>
            </a:r>
            <a:r>
              <a:rPr sz="1400" b="1">
                <a:solidFill>
                  <a:srgbClr val="FFFFFF"/>
                </a:solidFill>
                <a:latin typeface="Outfit"/>
              </a:rPr>
              <a:t>Styling:</a:t>
            </a:r>
            <a:r>
              <a:rPr sz="1400" b="0">
                <a:solidFill>
                  <a:srgbClr val="FFFFFF"/>
                </a:solidFill>
                <a:latin typeface="Outfit"/>
              </a:rPr>
              <a:t> Custom Vanilla CSS zur vollen Designkontrolle und Umsetzung der Glassmorphism-Ästhetik.</a:t>
            </a:r>
          </a:p>
          <a:p>
            <a:pPr>
              <a:spcAft>
                <a:spcPts val="800"/>
              </a:spcAft>
              <a:defRPr sz="1400">
                <a:solidFill>
                  <a:srgbClr val="94A3B8"/>
                </a:solidFill>
                <a:latin typeface="Outfit"/>
              </a:defRPr>
            </a:pPr>
            <a:r>
              <a:t>•  </a:t>
            </a:r>
            <a:r>
              <a:rPr sz="1400" b="1">
                <a:solidFill>
                  <a:srgbClr val="FFFFFF"/>
                </a:solidFill>
                <a:latin typeface="Outfit"/>
              </a:rPr>
              <a:t>Backend:</a:t>
            </a:r>
            <a:r>
              <a:rPr sz="1400" b="0">
                <a:solidFill>
                  <a:srgbClr val="FFFFFF"/>
                </a:solidFill>
                <a:latin typeface="Outfit"/>
              </a:rPr>
              <a:t> PostgreSQL als relationale DB + PostgREST via Docker für eine sofort einsatzbereite REST-Schnittstelle.</a:t>
            </a:r>
          </a:p>
          <a:p>
            <a:pPr>
              <a:spcAft>
                <a:spcPts val="800"/>
              </a:spcAft>
              <a:defRPr sz="1400">
                <a:solidFill>
                  <a:srgbClr val="94A3B8"/>
                </a:solidFill>
                <a:latin typeface="Outfit"/>
              </a:defRPr>
            </a:pPr>
            <a:r>
              <a:t>•  </a:t>
            </a:r>
            <a:r>
              <a:rPr sz="1400" b="1">
                <a:solidFill>
                  <a:srgbClr val="FFFFFF"/>
                </a:solidFill>
                <a:latin typeface="Outfit"/>
              </a:rPr>
              <a:t>Vorteil:</a:t>
            </a:r>
            <a:r>
              <a:rPr sz="1400" b="0">
                <a:solidFill>
                  <a:srgbClr val="FFFFFF"/>
                </a:solidFill>
                <a:latin typeface="Outfit"/>
              </a:rPr>
              <a:t> Extreme Zeitersparnis, da die API automatisch aus dem DB-Schema generiert wird.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rPr dirty="0" err="1"/>
              <a:t>Herausforderungen</a:t>
            </a:r>
            <a:r>
              <a:rPr dirty="0"/>
              <a:t>: </a:t>
            </a:r>
            <a:r>
              <a:rPr dirty="0" err="1"/>
              <a:t>Risiken</a:t>
            </a:r>
            <a:r>
              <a:rPr dirty="0"/>
              <a:t> &amp; </a:t>
            </a:r>
            <a:r>
              <a:rPr dirty="0" err="1"/>
              <a:t>Sicherheitskonzept</a:t>
            </a:r>
            <a:endParaRPr dirty="0"/>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DAS RISIKO (DATA INTEGRITY)</a:t>
            </a:r>
          </a:p>
          <a:p>
            <a:pPr>
              <a:spcAft>
                <a:spcPts val="800"/>
              </a:spcAft>
              <a:defRPr sz="1400">
                <a:solidFill>
                  <a:srgbClr val="94A3B8"/>
                </a:solidFill>
                <a:latin typeface="Outfit"/>
              </a:defRPr>
            </a:pPr>
            <a:r>
              <a:t>•  </a:t>
            </a:r>
            <a:r>
              <a:rPr sz="1400" b="1">
                <a:solidFill>
                  <a:srgbClr val="FFFFFF"/>
                </a:solidFill>
                <a:latin typeface="Outfit"/>
              </a:rPr>
              <a:t>MVP ohne Token-Auth:</a:t>
            </a:r>
            <a:r>
              <a:rPr sz="1400" b="0">
                <a:solidFill>
                  <a:srgbClr val="FFFFFF"/>
                </a:solidFill>
                <a:latin typeface="Outfit"/>
              </a:rPr>
              <a:t> Aufgrund des engen Zeitfensters startet das MVP ohne vollumfängliche JWT-Authentifizierung.</a:t>
            </a:r>
          </a:p>
          <a:p>
            <a:pPr>
              <a:spcAft>
                <a:spcPts val="800"/>
              </a:spcAft>
              <a:defRPr sz="1400">
                <a:solidFill>
                  <a:srgbClr val="94A3B8"/>
                </a:solidFill>
                <a:latin typeface="Outfit"/>
              </a:defRPr>
            </a:pPr>
            <a:r>
              <a:t>•  </a:t>
            </a:r>
            <a:r>
              <a:rPr sz="1400" b="1">
                <a:solidFill>
                  <a:srgbClr val="FFFFFF"/>
                </a:solidFill>
                <a:latin typeface="Outfit"/>
              </a:rPr>
              <a:t>Sicherheitslücke:</a:t>
            </a:r>
            <a:r>
              <a:rPr sz="1400" b="0">
                <a:solidFill>
                  <a:srgbClr val="FFFFFF"/>
                </a:solidFill>
                <a:latin typeface="Outfit"/>
              </a:rPr>
              <a:t> Über direkte API-DELETE-Befehle an PostgREST könnte theoretisch jeder Nutzer fremde Gruppen oder Termine manipulieren/löschen.</a:t>
            </a:r>
          </a:p>
          <a:p>
            <a:pPr>
              <a:spcAft>
                <a:spcPts val="800"/>
              </a:spcAft>
              <a:defRPr sz="1400">
                <a:solidFill>
                  <a:srgbClr val="94A3B8"/>
                </a:solidFill>
                <a:latin typeface="Outfit"/>
              </a:defRPr>
            </a:pPr>
            <a:r>
              <a:t>•  </a:t>
            </a:r>
            <a:r>
              <a:rPr sz="1400" b="1">
                <a:solidFill>
                  <a:srgbClr val="FFFFFF"/>
                </a:solidFill>
                <a:latin typeface="Outfit"/>
              </a:rPr>
              <a:t>Gefahr:</a:t>
            </a:r>
            <a:r>
              <a:rPr sz="1400" b="0">
                <a:solidFill>
                  <a:srgbClr val="FFFFFF"/>
                </a:solidFill>
                <a:latin typeface="Outfit"/>
              </a:rPr>
              <a:t> Böswillige Zerstörung von Daten und Verlust der Datenintegrität.</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DIE SICHERHEITSMASSNAHMEN</a:t>
            </a:r>
          </a:p>
          <a:p>
            <a:pPr>
              <a:spcAft>
                <a:spcPts val="800"/>
              </a:spcAft>
              <a:defRPr sz="1400">
                <a:solidFill>
                  <a:srgbClr val="94A3B8"/>
                </a:solidFill>
                <a:latin typeface="Outfit"/>
              </a:defRPr>
            </a:pPr>
            <a:r>
              <a:t>•  </a:t>
            </a:r>
            <a:r>
              <a:rPr sz="1400" b="1">
                <a:solidFill>
                  <a:srgbClr val="FFFFFF"/>
                </a:solidFill>
                <a:latin typeface="Outfit"/>
              </a:rPr>
              <a:t>Gesperrte Endpunkte:</a:t>
            </a:r>
            <a:r>
              <a:rPr sz="1400" b="0">
                <a:solidFill>
                  <a:srgbClr val="FFFFFF"/>
                </a:solidFill>
                <a:latin typeface="Outfit"/>
              </a:rPr>
              <a:t> Direkte DELETE-Rechte auf Tabellenebene wurden der REST-API komplett entzogen.</a:t>
            </a:r>
          </a:p>
          <a:p>
            <a:pPr>
              <a:spcAft>
                <a:spcPts val="800"/>
              </a:spcAft>
              <a:defRPr sz="1400">
                <a:solidFill>
                  <a:srgbClr val="94A3B8"/>
                </a:solidFill>
                <a:latin typeface="Outfit"/>
              </a:defRPr>
            </a:pPr>
            <a:r>
              <a:t>•  </a:t>
            </a:r>
            <a:r>
              <a:rPr sz="1400" b="1">
                <a:solidFill>
                  <a:srgbClr val="FFFFFF"/>
                </a:solidFill>
                <a:latin typeface="Outfit"/>
              </a:rPr>
              <a:t>Datenbank-RPCs:</a:t>
            </a:r>
            <a:r>
              <a:rPr sz="1400" b="0">
                <a:solidFill>
                  <a:srgbClr val="FFFFFF"/>
                </a:solidFill>
                <a:latin typeface="Outfit"/>
              </a:rPr>
              <a:t> Löschen erfolgt ausschliesslich über sichere PostgreSQL Stored Procedures.</a:t>
            </a:r>
          </a:p>
          <a:p>
            <a:pPr>
              <a:spcAft>
                <a:spcPts val="800"/>
              </a:spcAft>
              <a:defRPr sz="1400">
                <a:solidFill>
                  <a:srgbClr val="94A3B8"/>
                </a:solidFill>
                <a:latin typeface="Outfit"/>
              </a:defRPr>
            </a:pPr>
            <a:r>
              <a:t>•  </a:t>
            </a:r>
            <a:r>
              <a:rPr sz="1400" b="1">
                <a:solidFill>
                  <a:srgbClr val="FFFFFF"/>
                </a:solidFill>
                <a:latin typeface="Outfit"/>
              </a:rPr>
              <a:t>Innere Berechtigungsprüfung:</a:t>
            </a:r>
            <a:r>
              <a:rPr sz="1400" b="0">
                <a:solidFill>
                  <a:srgbClr val="FFFFFF"/>
                </a:solidFill>
                <a:latin typeface="Outfit"/>
              </a:rPr>
              <a:t> Die DB-Funktion prüft serverseitig und manipulationssicher, ob der anfragende Nutzer der Ersteller des Eintrags oder der Besitzer der Gruppe ist.</a:t>
            </a:r>
          </a:p>
          <a:p>
            <a:pPr>
              <a:spcAft>
                <a:spcPts val="800"/>
              </a:spcAft>
              <a:defRPr sz="1400">
                <a:solidFill>
                  <a:srgbClr val="94A3B8"/>
                </a:solidFill>
                <a:latin typeface="Outfit"/>
              </a:defRPr>
            </a:pPr>
            <a:r>
              <a:t>•  </a:t>
            </a:r>
            <a:r>
              <a:rPr sz="1400" b="1">
                <a:solidFill>
                  <a:srgbClr val="FFFFFF"/>
                </a:solidFill>
                <a:latin typeface="Outfit"/>
              </a:rPr>
              <a:t>Ergebnis:</a:t>
            </a:r>
            <a:r>
              <a:rPr sz="1400" b="0">
                <a:solidFill>
                  <a:srgbClr val="FFFFFF"/>
                </a:solidFill>
                <a:latin typeface="Outfit"/>
              </a:rPr>
              <a:t> Absolute Sicherheit und Datenintegrität direkt im Datenbanksystem verankert.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Produktdemo: MeetPoint live in Aktion</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1371600" y="1645920"/>
            <a:ext cx="9448495"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1920240"/>
            <a:ext cx="8899855"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CHOREOGRAFIE UNSERER LIVE-VORSTELLUNG</a:t>
            </a:r>
          </a:p>
          <a:p>
            <a:pPr>
              <a:spcAft>
                <a:spcPts val="800"/>
              </a:spcAft>
              <a:defRPr sz="1400">
                <a:solidFill>
                  <a:srgbClr val="94A3B8"/>
                </a:solidFill>
                <a:latin typeface="Outfit"/>
              </a:defRPr>
            </a:pPr>
            <a:r>
              <a:t>•  </a:t>
            </a:r>
            <a:r>
              <a:rPr sz="1400" b="1">
                <a:solidFill>
                  <a:srgbClr val="FFFFFF"/>
                </a:solidFill>
                <a:latin typeface="Outfit"/>
              </a:rPr>
              <a:t>1. Login &amp; Dashboard:</a:t>
            </a:r>
            <a:r>
              <a:rPr sz="1400" b="0">
                <a:solidFill>
                  <a:srgbClr val="FFFFFF"/>
                </a:solidFill>
                <a:latin typeface="Outfit"/>
              </a:rPr>
              <a:t> Vorstellung des responsiven Dark-Mode UIs und der Sidebar.</a:t>
            </a:r>
          </a:p>
          <a:p>
            <a:pPr>
              <a:spcAft>
                <a:spcPts val="800"/>
              </a:spcAft>
              <a:defRPr sz="1400">
                <a:solidFill>
                  <a:srgbClr val="94A3B8"/>
                </a:solidFill>
                <a:latin typeface="Outfit"/>
              </a:defRPr>
            </a:pPr>
            <a:r>
              <a:t>•  </a:t>
            </a:r>
            <a:r>
              <a:rPr sz="1400" b="1">
                <a:solidFill>
                  <a:srgbClr val="FFFFFF"/>
                </a:solidFill>
                <a:latin typeface="Outfit"/>
              </a:rPr>
              <a:t>2. Gruppen-Erstellung:</a:t>
            </a:r>
            <a:r>
              <a:rPr sz="1400" b="0">
                <a:solidFill>
                  <a:srgbClr val="FFFFFF"/>
                </a:solidFill>
                <a:latin typeface="Outfit"/>
              </a:rPr>
              <a:t> Live-Erstellung einer Gruppe (z.B. 'Sommerferien-Crew').</a:t>
            </a:r>
          </a:p>
          <a:p>
            <a:pPr>
              <a:spcAft>
                <a:spcPts val="800"/>
              </a:spcAft>
              <a:defRPr sz="1400">
                <a:solidFill>
                  <a:srgbClr val="94A3B8"/>
                </a:solidFill>
                <a:latin typeface="Outfit"/>
              </a:defRPr>
            </a:pPr>
            <a:r>
              <a:t>•  </a:t>
            </a:r>
            <a:r>
              <a:rPr sz="1400" b="1">
                <a:solidFill>
                  <a:srgbClr val="FFFFFF"/>
                </a:solidFill>
                <a:latin typeface="Outfit"/>
              </a:rPr>
              <a:t>3. Interessen hinterlegen:</a:t>
            </a:r>
            <a:r>
              <a:rPr sz="1400" b="0">
                <a:solidFill>
                  <a:srgbClr val="FFFFFF"/>
                </a:solidFill>
                <a:latin typeface="Outfit"/>
              </a:rPr>
              <a:t> Schnelles Zuweisen von Interessen zur Bedarfsermittlung.</a:t>
            </a:r>
          </a:p>
          <a:p>
            <a:pPr>
              <a:spcAft>
                <a:spcPts val="800"/>
              </a:spcAft>
              <a:defRPr sz="1400">
                <a:solidFill>
                  <a:srgbClr val="94A3B8"/>
                </a:solidFill>
                <a:latin typeface="Outfit"/>
              </a:defRPr>
            </a:pPr>
            <a:r>
              <a:t>•  </a:t>
            </a:r>
            <a:r>
              <a:rPr sz="1400" b="1">
                <a:solidFill>
                  <a:srgbClr val="FFFFFF"/>
                </a:solidFill>
                <a:latin typeface="Outfit"/>
              </a:rPr>
              <a:t>4. Aktivität planen:</a:t>
            </a:r>
            <a:r>
              <a:rPr sz="1400" b="0">
                <a:solidFill>
                  <a:srgbClr val="FFFFFF"/>
                </a:solidFill>
                <a:latin typeface="Outfit"/>
              </a:rPr>
              <a:t> Neue Aktivität erstellen und mit Interessen-Chips taggen.</a:t>
            </a:r>
          </a:p>
          <a:p>
            <a:pPr>
              <a:spcAft>
                <a:spcPts val="800"/>
              </a:spcAft>
              <a:defRPr sz="1400">
                <a:solidFill>
                  <a:srgbClr val="94A3B8"/>
                </a:solidFill>
                <a:latin typeface="Outfit"/>
              </a:defRPr>
            </a:pPr>
            <a:r>
              <a:t>•  </a:t>
            </a:r>
            <a:r>
              <a:rPr sz="1400" b="1">
                <a:solidFill>
                  <a:srgbClr val="FFFFFF"/>
                </a:solidFill>
                <a:latin typeface="Outfit"/>
              </a:rPr>
              <a:t>5. Termine &amp; Abstimmung:</a:t>
            </a:r>
            <a:r>
              <a:rPr sz="1400" b="0">
                <a:solidFill>
                  <a:srgbClr val="FFFFFF"/>
                </a:solidFill>
                <a:latin typeface="Outfit"/>
              </a:rPr>
              <a:t> Erstellen von Vorschlägen und reaktive Stimmabgabe (👍 / 👎).</a:t>
            </a:r>
          </a:p>
          <a:p>
            <a:pPr>
              <a:spcAft>
                <a:spcPts val="800"/>
              </a:spcAft>
              <a:defRPr sz="1400">
                <a:solidFill>
                  <a:srgbClr val="94A3B8"/>
                </a:solidFill>
                <a:latin typeface="Outfit"/>
              </a:defRPr>
            </a:pPr>
            <a:r>
              <a:t>•  </a:t>
            </a:r>
            <a:r>
              <a:rPr sz="1400" b="1">
                <a:solidFill>
                  <a:srgbClr val="FFFFFF"/>
                </a:solidFill>
                <a:latin typeface="Outfit"/>
              </a:rPr>
              <a:t>6. Live-Auswertung:</a:t>
            </a:r>
            <a:r>
              <a:rPr sz="1400" b="0">
                <a:solidFill>
                  <a:srgbClr val="FFFFFF"/>
                </a:solidFill>
                <a:latin typeface="Outfit"/>
              </a:rPr>
              <a:t> Automatische Markierung des Sieger-Termins mit dem 🏆-Pokal.</a:t>
            </a:r>
          </a:p>
          <a:p>
            <a:pPr>
              <a:spcAft>
                <a:spcPts val="800"/>
              </a:spcAft>
              <a:defRPr sz="1400">
                <a:solidFill>
                  <a:srgbClr val="94A3B8"/>
                </a:solidFill>
                <a:latin typeface="Outfit"/>
              </a:defRPr>
            </a:pPr>
            <a:r>
              <a:t>•  </a:t>
            </a:r>
            <a:r>
              <a:rPr sz="1400" b="1">
                <a:solidFill>
                  <a:srgbClr val="FFFFFF"/>
                </a:solidFill>
                <a:latin typeface="Outfit"/>
              </a:rPr>
              <a:t>7. Berechtigungen:</a:t>
            </a:r>
            <a:r>
              <a:rPr sz="1400" b="0">
                <a:solidFill>
                  <a:srgbClr val="FFFFFF"/>
                </a:solidFill>
                <a:latin typeface="Outfit"/>
              </a:rPr>
              <a:t> Vorführen der Löschfunktion über sichere Modals (nur für berechtigte Personen).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rPr dirty="0" err="1"/>
              <a:t>Fazit</a:t>
            </a:r>
            <a:r>
              <a:rPr dirty="0"/>
              <a:t>, </a:t>
            </a:r>
            <a:r>
              <a:rPr dirty="0" err="1"/>
              <a:t>Reflexion</a:t>
            </a:r>
            <a:r>
              <a:rPr dirty="0"/>
              <a:t> &amp; </a:t>
            </a:r>
            <a:r>
              <a:rPr dirty="0" err="1"/>
              <a:t>Ausblick</a:t>
            </a:r>
            <a:endParaRPr dirty="0"/>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ZIELERREICHUNG &amp; ARBEITSWEISE</a:t>
            </a:r>
          </a:p>
          <a:p>
            <a:pPr>
              <a:spcAft>
                <a:spcPts val="800"/>
              </a:spcAft>
              <a:defRPr sz="1400">
                <a:solidFill>
                  <a:srgbClr val="94A3B8"/>
                </a:solidFill>
                <a:latin typeface="Outfit"/>
              </a:defRPr>
            </a:pPr>
            <a:r>
              <a:t>•  </a:t>
            </a:r>
            <a:r>
              <a:rPr sz="1400" b="1">
                <a:solidFill>
                  <a:srgbClr val="FFFFFF"/>
                </a:solidFill>
                <a:latin typeface="Outfit"/>
              </a:rPr>
              <a:t>Ziele voll erreicht:</a:t>
            </a:r>
            <a:r>
              <a:rPr sz="1400" b="0">
                <a:solidFill>
                  <a:srgbClr val="FFFFFF"/>
                </a:solidFill>
                <a:latin typeface="Outfit"/>
              </a:rPr>
              <a:t> Ein voll funktionsfähiges MVP wurde erfolgreich implementiert und in der Praxis getestet.</a:t>
            </a:r>
          </a:p>
          <a:p>
            <a:pPr>
              <a:spcAft>
                <a:spcPts val="800"/>
              </a:spcAft>
              <a:defRPr sz="1400">
                <a:solidFill>
                  <a:srgbClr val="94A3B8"/>
                </a:solidFill>
                <a:latin typeface="Outfit"/>
              </a:defRPr>
            </a:pPr>
            <a:r>
              <a:t>•  </a:t>
            </a:r>
            <a:r>
              <a:rPr sz="1400" b="1">
                <a:solidFill>
                  <a:srgbClr val="FFFFFF"/>
                </a:solidFill>
                <a:latin typeface="Outfit"/>
              </a:rPr>
              <a:t>Mehrwert:</a:t>
            </a:r>
            <a:r>
              <a:rPr sz="1400" b="0">
                <a:solidFill>
                  <a:srgbClr val="FFFFFF"/>
                </a:solidFill>
                <a:latin typeface="Outfit"/>
              </a:rPr>
              <a:t> Die strukturierte Terminfindung spart nachweislich Zeit und verhindert Missverständnisse.</a:t>
            </a:r>
          </a:p>
          <a:p>
            <a:pPr>
              <a:spcAft>
                <a:spcPts val="800"/>
              </a:spcAft>
              <a:defRPr sz="1400">
                <a:solidFill>
                  <a:srgbClr val="94A3B8"/>
                </a:solidFill>
                <a:latin typeface="Outfit"/>
              </a:defRPr>
            </a:pPr>
            <a:r>
              <a:t>•  </a:t>
            </a:r>
            <a:r>
              <a:rPr sz="1400" b="1">
                <a:solidFill>
                  <a:srgbClr val="FFFFFF"/>
                </a:solidFill>
                <a:latin typeface="Outfit"/>
              </a:rPr>
              <a:t>Lerneffekt:</a:t>
            </a:r>
            <a:r>
              <a:rPr sz="1400" b="0">
                <a:solidFill>
                  <a:srgbClr val="FFFFFF"/>
                </a:solidFill>
                <a:latin typeface="Outfit"/>
              </a:rPr>
              <a:t> Die relationale Datenbankstruktur und RPC-Absicherung waren eine hervorragende Übung.</a:t>
            </a:r>
          </a:p>
          <a:p>
            <a:pPr>
              <a:spcAft>
                <a:spcPts val="800"/>
              </a:spcAft>
              <a:defRPr sz="1400">
                <a:solidFill>
                  <a:srgbClr val="94A3B8"/>
                </a:solidFill>
                <a:latin typeface="Outfit"/>
              </a:defRPr>
            </a:pPr>
            <a:r>
              <a:t>•  </a:t>
            </a:r>
            <a:r>
              <a:rPr sz="1400" b="1">
                <a:solidFill>
                  <a:srgbClr val="FFFFFF"/>
                </a:solidFill>
                <a:latin typeface="Outfit"/>
              </a:rPr>
              <a:t>Arbeitsmethodik (Ehrliche Reflexion):</a:t>
            </a:r>
            <a:r>
              <a:rPr sz="1400" b="0">
                <a:solidFill>
                  <a:srgbClr val="FFFFFF"/>
                </a:solidFill>
                <a:latin typeface="Outfit"/>
              </a:rPr>
              <a:t> Aufgrund des extrem engen Zeitfensters haben wir gezielt modernste KI-Assistenten (AI-Assisted Development) eingesetzt. Dies ermöglichte schnelles Prototyping, sauberen Code und fehlerfreie SQL-Strukturen.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rPr dirty="0"/>
              <a:t>ZUKÜNFTIGE ERWEITERUNGEN</a:t>
            </a:r>
          </a:p>
          <a:p>
            <a:pPr>
              <a:spcAft>
                <a:spcPts val="800"/>
              </a:spcAft>
              <a:defRPr sz="1400">
                <a:solidFill>
                  <a:srgbClr val="94A3B8"/>
                </a:solidFill>
                <a:latin typeface="Outfit"/>
              </a:defRPr>
            </a:pPr>
            <a:r>
              <a:rPr dirty="0"/>
              <a:t>•  </a:t>
            </a:r>
            <a:r>
              <a:rPr sz="1400" b="1" dirty="0" err="1">
                <a:solidFill>
                  <a:srgbClr val="FFFFFF"/>
                </a:solidFill>
                <a:latin typeface="Outfit"/>
              </a:rPr>
              <a:t>Sichere</a:t>
            </a:r>
            <a:r>
              <a:rPr sz="1400" b="1" dirty="0">
                <a:solidFill>
                  <a:srgbClr val="FFFFFF"/>
                </a:solidFill>
                <a:latin typeface="Outfit"/>
              </a:rPr>
              <a:t> </a:t>
            </a:r>
            <a:r>
              <a:rPr sz="1400" b="1" dirty="0" err="1">
                <a:solidFill>
                  <a:srgbClr val="FFFFFF"/>
                </a:solidFill>
                <a:latin typeface="Outfit"/>
              </a:rPr>
              <a:t>Authentifizierung</a:t>
            </a:r>
            <a:r>
              <a:rPr sz="1400" b="1" dirty="0">
                <a:solidFill>
                  <a:srgbClr val="FFFFFF"/>
                </a:solidFill>
                <a:latin typeface="Outfit"/>
              </a:rPr>
              <a:t>:</a:t>
            </a:r>
            <a:r>
              <a:rPr sz="1400" b="0" dirty="0">
                <a:solidFill>
                  <a:srgbClr val="FFFFFF"/>
                </a:solidFill>
                <a:latin typeface="Outfit"/>
              </a:rPr>
              <a:t> </a:t>
            </a:r>
            <a:r>
              <a:rPr sz="1400" b="0" dirty="0" err="1">
                <a:solidFill>
                  <a:srgbClr val="FFFFFF"/>
                </a:solidFill>
                <a:latin typeface="Outfit"/>
              </a:rPr>
              <a:t>Anbindung</a:t>
            </a:r>
            <a:r>
              <a:rPr sz="1400" b="0" dirty="0">
                <a:solidFill>
                  <a:srgbClr val="FFFFFF"/>
                </a:solidFill>
                <a:latin typeface="Outfit"/>
              </a:rPr>
              <a:t> </a:t>
            </a:r>
            <a:r>
              <a:rPr sz="1400" b="0" dirty="0" err="1">
                <a:solidFill>
                  <a:srgbClr val="FFFFFF"/>
                </a:solidFill>
                <a:latin typeface="Outfit"/>
              </a:rPr>
              <a:t>einer</a:t>
            </a:r>
            <a:r>
              <a:rPr sz="1400" b="0" dirty="0">
                <a:solidFill>
                  <a:srgbClr val="FFFFFF"/>
                </a:solidFill>
                <a:latin typeface="Outfit"/>
              </a:rPr>
              <a:t> </a:t>
            </a:r>
            <a:r>
              <a:rPr sz="1400" b="0" dirty="0" err="1">
                <a:solidFill>
                  <a:srgbClr val="FFFFFF"/>
                </a:solidFill>
                <a:latin typeface="Outfit"/>
              </a:rPr>
              <a:t>vollwertigen</a:t>
            </a:r>
            <a:r>
              <a:rPr sz="1400" b="0" dirty="0">
                <a:solidFill>
                  <a:srgbClr val="FFFFFF"/>
                </a:solidFill>
                <a:latin typeface="Outfit"/>
              </a:rPr>
              <a:t> JWT-</a:t>
            </a:r>
            <a:r>
              <a:rPr sz="1400" b="0" dirty="0" err="1">
                <a:solidFill>
                  <a:srgbClr val="FFFFFF"/>
                </a:solidFill>
                <a:latin typeface="Outfit"/>
              </a:rPr>
              <a:t>Authentifizierung</a:t>
            </a:r>
            <a:r>
              <a:rPr sz="1400" b="0" dirty="0">
                <a:solidFill>
                  <a:srgbClr val="FFFFFF"/>
                </a:solidFill>
                <a:latin typeface="Outfit"/>
              </a:rPr>
              <a:t> </a:t>
            </a:r>
            <a:r>
              <a:rPr sz="1400" b="0" dirty="0" err="1">
                <a:solidFill>
                  <a:srgbClr val="FFFFFF"/>
                </a:solidFill>
                <a:latin typeface="Outfit"/>
              </a:rPr>
              <a:t>im</a:t>
            </a:r>
            <a:r>
              <a:rPr sz="1400" b="0" dirty="0">
                <a:solidFill>
                  <a:srgbClr val="FFFFFF"/>
                </a:solidFill>
                <a:latin typeface="Outfit"/>
              </a:rPr>
              <a:t> Backend für </a:t>
            </a:r>
            <a:r>
              <a:rPr sz="1400" b="0">
                <a:solidFill>
                  <a:srgbClr val="FFFFFF"/>
                </a:solidFill>
                <a:latin typeface="Outfit"/>
              </a:rPr>
              <a:t>Produktivbetrieb</a:t>
            </a:r>
            <a:r>
              <a:rPr sz="1400" b="0" dirty="0">
                <a:solidFill>
                  <a:srgbClr val="FFFFFF"/>
                </a:solidFill>
                <a:latin typeface="Outfit"/>
              </a:rPr>
              <a:t>.</a:t>
            </a:r>
          </a:p>
          <a:p>
            <a:pPr>
              <a:spcAft>
                <a:spcPts val="800"/>
              </a:spcAft>
              <a:defRPr sz="1400">
                <a:solidFill>
                  <a:srgbClr val="94A3B8"/>
                </a:solidFill>
                <a:latin typeface="Outfit"/>
              </a:defRPr>
            </a:pPr>
            <a:r>
              <a:rPr dirty="0"/>
              <a:t>•  </a:t>
            </a:r>
            <a:r>
              <a:rPr sz="1400" b="1" dirty="0">
                <a:solidFill>
                  <a:srgbClr val="FFFFFF"/>
                </a:solidFill>
                <a:latin typeface="Outfit"/>
              </a:rPr>
              <a:t>Kalender-</a:t>
            </a:r>
            <a:r>
              <a:rPr sz="1400" b="1" dirty="0" err="1">
                <a:solidFill>
                  <a:srgbClr val="FFFFFF"/>
                </a:solidFill>
                <a:latin typeface="Outfit"/>
              </a:rPr>
              <a:t>Synchronisation</a:t>
            </a:r>
            <a:r>
              <a:rPr sz="1400" b="1" dirty="0">
                <a:solidFill>
                  <a:srgbClr val="FFFFFF"/>
                </a:solidFill>
                <a:latin typeface="Outfit"/>
              </a:rPr>
              <a:t>:</a:t>
            </a:r>
            <a:r>
              <a:rPr sz="1400" b="0" dirty="0">
                <a:solidFill>
                  <a:srgbClr val="FFFFFF"/>
                </a:solidFill>
                <a:latin typeface="Outfit"/>
              </a:rPr>
              <a:t> </a:t>
            </a:r>
            <a:r>
              <a:rPr sz="1400" b="0" dirty="0" err="1">
                <a:solidFill>
                  <a:srgbClr val="FFFFFF"/>
                </a:solidFill>
                <a:latin typeface="Outfit"/>
              </a:rPr>
              <a:t>Direkter</a:t>
            </a:r>
            <a:r>
              <a:rPr sz="1400" b="0" dirty="0">
                <a:solidFill>
                  <a:srgbClr val="FFFFFF"/>
                </a:solidFill>
                <a:latin typeface="Outfit"/>
              </a:rPr>
              <a:t> Export von </a:t>
            </a:r>
            <a:r>
              <a:rPr sz="1400" b="0" dirty="0" err="1">
                <a:solidFill>
                  <a:srgbClr val="FFFFFF"/>
                </a:solidFill>
                <a:latin typeface="Outfit"/>
              </a:rPr>
              <a:t>gefundenen</a:t>
            </a:r>
            <a:r>
              <a:rPr sz="1400" b="0" dirty="0">
                <a:solidFill>
                  <a:srgbClr val="FFFFFF"/>
                </a:solidFill>
                <a:latin typeface="Outfit"/>
              </a:rPr>
              <a:t> </a:t>
            </a:r>
            <a:r>
              <a:rPr sz="1400" b="0" dirty="0" err="1">
                <a:solidFill>
                  <a:srgbClr val="FFFFFF"/>
                </a:solidFill>
                <a:latin typeface="Outfit"/>
              </a:rPr>
              <a:t>Terminen</a:t>
            </a:r>
            <a:r>
              <a:rPr sz="1400" b="0" dirty="0">
                <a:solidFill>
                  <a:srgbClr val="FFFFFF"/>
                </a:solidFill>
                <a:latin typeface="Outfit"/>
              </a:rPr>
              <a:t> </a:t>
            </a:r>
            <a:r>
              <a:rPr sz="1400" b="0" dirty="0" err="1">
                <a:solidFill>
                  <a:srgbClr val="FFFFFF"/>
                </a:solidFill>
                <a:latin typeface="Outfit"/>
              </a:rPr>
              <a:t>als</a:t>
            </a:r>
            <a:r>
              <a:rPr sz="1400" b="0" dirty="0">
                <a:solidFill>
                  <a:srgbClr val="FFFFFF"/>
                </a:solidFill>
                <a:latin typeface="Outfit"/>
              </a:rPr>
              <a:t> .</a:t>
            </a:r>
            <a:r>
              <a:rPr sz="1400" b="0" dirty="0" err="1">
                <a:solidFill>
                  <a:srgbClr val="FFFFFF"/>
                </a:solidFill>
                <a:latin typeface="Outfit"/>
              </a:rPr>
              <a:t>ics-Datei</a:t>
            </a:r>
            <a:r>
              <a:rPr sz="1400" b="0" dirty="0">
                <a:solidFill>
                  <a:srgbClr val="FFFFFF"/>
                </a:solidFill>
                <a:latin typeface="Outfit"/>
              </a:rPr>
              <a:t> (für Google/Apple Cal).</a:t>
            </a:r>
          </a:p>
          <a:p>
            <a:pPr>
              <a:spcAft>
                <a:spcPts val="800"/>
              </a:spcAft>
              <a:defRPr sz="1400">
                <a:solidFill>
                  <a:srgbClr val="94A3B8"/>
                </a:solidFill>
                <a:latin typeface="Outfit"/>
              </a:defRPr>
            </a:pPr>
            <a:r>
              <a:rPr dirty="0"/>
              <a:t>•  </a:t>
            </a:r>
            <a:r>
              <a:rPr sz="1400" b="1" dirty="0" err="1">
                <a:solidFill>
                  <a:srgbClr val="FFFFFF"/>
                </a:solidFill>
                <a:latin typeface="Outfit"/>
              </a:rPr>
              <a:t>Benachrichtigungen</a:t>
            </a:r>
            <a:r>
              <a:rPr sz="1400" b="1" dirty="0">
                <a:solidFill>
                  <a:srgbClr val="FFFFFF"/>
                </a:solidFill>
                <a:latin typeface="Outfit"/>
              </a:rPr>
              <a:t>:</a:t>
            </a:r>
            <a:r>
              <a:rPr sz="1400" b="0" dirty="0">
                <a:solidFill>
                  <a:srgbClr val="FFFFFF"/>
                </a:solidFill>
                <a:latin typeface="Outfit"/>
              </a:rPr>
              <a:t> </a:t>
            </a:r>
            <a:r>
              <a:rPr sz="1400" b="0" dirty="0" err="1">
                <a:solidFill>
                  <a:srgbClr val="FFFFFF"/>
                </a:solidFill>
                <a:latin typeface="Outfit"/>
              </a:rPr>
              <a:t>Automatische</a:t>
            </a:r>
            <a:r>
              <a:rPr sz="1400" b="0" dirty="0">
                <a:solidFill>
                  <a:srgbClr val="FFFFFF"/>
                </a:solidFill>
                <a:latin typeface="Outfit"/>
              </a:rPr>
              <a:t> Push- </a:t>
            </a:r>
            <a:r>
              <a:rPr sz="1400" b="0" dirty="0" err="1">
                <a:solidFill>
                  <a:srgbClr val="FFFFFF"/>
                </a:solidFill>
                <a:latin typeface="Outfit"/>
              </a:rPr>
              <a:t>oder</a:t>
            </a:r>
            <a:r>
              <a:rPr sz="1400" b="0" dirty="0">
                <a:solidFill>
                  <a:srgbClr val="FFFFFF"/>
                </a:solidFill>
                <a:latin typeface="Outfit"/>
              </a:rPr>
              <a:t> E-Mail-</a:t>
            </a:r>
            <a:r>
              <a:rPr sz="1400" b="0" dirty="0" err="1">
                <a:solidFill>
                  <a:srgbClr val="FFFFFF"/>
                </a:solidFill>
                <a:latin typeface="Outfit"/>
              </a:rPr>
              <a:t>Dienste</a:t>
            </a:r>
            <a:r>
              <a:rPr sz="1400" b="0" dirty="0">
                <a:solidFill>
                  <a:srgbClr val="FFFFFF"/>
                </a:solidFill>
                <a:latin typeface="Outfit"/>
              </a:rPr>
              <a:t> </a:t>
            </a:r>
            <a:r>
              <a:rPr sz="1400" b="0" dirty="0" err="1">
                <a:solidFill>
                  <a:srgbClr val="FFFFFF"/>
                </a:solidFill>
                <a:latin typeface="Outfit"/>
              </a:rPr>
              <a:t>bei</a:t>
            </a:r>
            <a:r>
              <a:rPr sz="1400" b="0" dirty="0">
                <a:solidFill>
                  <a:srgbClr val="FFFFFF"/>
                </a:solidFill>
                <a:latin typeface="Outfit"/>
              </a:rPr>
              <a:t> </a:t>
            </a:r>
            <a:r>
              <a:rPr sz="1400" b="0" dirty="0" err="1">
                <a:solidFill>
                  <a:srgbClr val="FFFFFF"/>
                </a:solidFill>
                <a:latin typeface="Outfit"/>
              </a:rPr>
              <a:t>neuen</a:t>
            </a:r>
            <a:r>
              <a:rPr sz="1400" b="0" dirty="0">
                <a:solidFill>
                  <a:srgbClr val="FFFFFF"/>
                </a:solidFill>
                <a:latin typeface="Outfit"/>
              </a:rPr>
              <a:t> </a:t>
            </a:r>
            <a:r>
              <a:rPr sz="1400" b="0" dirty="0" err="1">
                <a:solidFill>
                  <a:srgbClr val="FFFFFF"/>
                </a:solidFill>
                <a:latin typeface="Outfit"/>
              </a:rPr>
              <a:t>Terminvorschlägen</a:t>
            </a:r>
            <a:r>
              <a:rPr sz="1400" b="0" dirty="0">
                <a:solidFill>
                  <a:srgbClr val="FFFFFF"/>
                </a:solidFill>
                <a:latin typeface="Outfit"/>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1908</Words>
  <Application>Microsoft Office PowerPoint</Application>
  <PresentationFormat>Breitbild</PresentationFormat>
  <Paragraphs>99</Paragraphs>
  <Slides>6</Slides>
  <Notes>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vt:i4>
      </vt:variant>
    </vt:vector>
  </HeadingPairs>
  <TitlesOfParts>
    <vt:vector size="10" baseType="lpstr">
      <vt:lpstr>Arial</vt:lpstr>
      <vt:lpstr>Calibri</vt:lpstr>
      <vt:lpstr>Outfit</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FMZ; Tomovski Boris</cp:lastModifiedBy>
  <cp:revision>1</cp:revision>
  <dcterms:created xsi:type="dcterms:W3CDTF">2013-01-27T09:14:16Z</dcterms:created>
  <dcterms:modified xsi:type="dcterms:W3CDTF">2026-06-19T07:27:26Z</dcterms:modified>
  <cp:category/>
</cp:coreProperties>
</file>