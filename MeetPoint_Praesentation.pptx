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Herzlich willkommen zu unserer Abschlusspräsentation für das Modul 306. Wir präsentieren euch heute unser Projekt 'MeetPoint'. Jeder von euch kennt es wahrscheinlich: Man will etwas mit Freunden unternehmen, aber die Terminfindung in WhatsApp-Gruppen endet im totalen Chaos. Genau dieses Problem haben wir gelöst.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Ausgangslage für unser Projekt war klar: Die Planung von Gruppenaktivitäten in klassischen Messengern ist mühsam. Wer hat wann Zeit? Worauf haben die Leute überhaupt Lust? Das geht alles im Chat-Verlauf unter.</a:t>
            </a:r>
          </a:p>
          <a:p/>
          <a:p>
            <a:r>
              <a:t>Unser Projektziel war es daher, eine spezialisierte Web-App zu entwickeln. MeetPoint strukturiert den gesamten Ablauf: Von der Themengruppe, über das Sammeln von Interessen und Aktivitäten, bis hin zur finalen Terminabstimmung.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der Analyse haben wir die wichtigsten Anforderungen definiert: Wir brauchten ein System für Gruppen, Aktivitäten und eine Abstimmungslogik, die am Ende automatisch einen Gewinner-Termin ermittelt.</a:t>
            </a:r>
          </a:p>
          <a:p/>
          <a:p>
            <a:r>
              <a:t>Wir haben uns für Vue 3 im Frontend entschieden, da es schnelle, reaktive Benutzeroberflächen ermöglicht. Für das Design haben wir bewusst auf ein modernes Dark-Theme mit Glassmorphism gesetzt, um den Nutzern ein Premium-Gefühl zu geben.</a:t>
            </a:r>
          </a:p>
          <a:p/>
          <a:p>
            <a:r>
              <a:t>Im Backend setzen wir auf PostgreSQL in Kombination mit PostgREST über Docker. Die Begründung: PostgREST generiert uns automatisch und fehlerfrei eine REST-API aus unserem Datenbankschema, was uns enorm viel Entwicklungszeit gespart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grösste Herausforderung in der Entwicklung war das Berechtigungskonzept und die Datensicherheit. Da unser MVP aktuell noch ohne komplexe JWT-Authentifizierung läuft, bestand das Risiko, dass jeder Nutzer über die API theoretisch alles löschen könnte.</a:t>
            </a:r>
          </a:p>
          <a:p/>
          <a:p>
            <a:r>
              <a:t>Um dieses kritische Risiko zu beheben, haben wir tiefe Datenbank-Massnahmen getroffen: Wir haben der API die generellen Löschrechte entzogen und stattdessen sichere RPC-Funktionen in PostgreSQL geschrieben. Die Datenbank prüft nun bei jedem Klick knallhart selbst, ob die Person wirklich der Ersteller oder der Gruppenbesitzer ist. Erst dann wird etwas gelöscht.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Nun möchten wir euch MeetPoint live zeigen...</a:t>
            </a:r>
          </a:p>
          <a:p/>
          <a:p>
            <a:r>
              <a:t>1. Start: Zeigt die schöne Login-/Registrierungsseite. Loggt euch mit einem vorbereiteten Account ein.</a:t>
            </a:r>
          </a:p>
          <a:p>
            <a:r>
              <a:t>2. Dashboard &amp; Gruppe: Erklärt kurz den Planungs-Ablauf (Sidebar links). Erstellt live eine neue Gruppe (z.B. 'Sommerferien-Crew').</a:t>
            </a:r>
          </a:p>
          <a:p>
            <a:r>
              <a:t>3. Interessen: Fügt 2-3 Interessen hinzu (z.B. 'Sport', 'Essen'). Zeigt, wie schnell das geht.</a:t>
            </a:r>
          </a:p>
          <a:p>
            <a:r>
              <a:t>4. Aktivität erstellen: Klickt auf 'Neu' bei Aktivitäten (z.B. 'Grillabend'). Wählt dabei direkt die Interessen-Chips (z.B. 'Essen') aus!</a:t>
            </a:r>
          </a:p>
          <a:p>
            <a:r>
              <a:t>5. Termine abstimmen: Erstellt 2 Terminvorschläge für den Grillabend.</a:t>
            </a:r>
          </a:p>
          <a:p>
            <a:r>
              <a:t>6. Magie zeigen: Stimmt bei einem Termin mit 👍 und beim anderen mit 👎 ab. Zeigt, wie der Termin live als Bester Termin markiert wird und die Namen der Abstimmenden bei den Daumen stehen.</a:t>
            </a:r>
          </a:p>
          <a:p>
            <a:r>
              <a:t>7. Sicherheit demonstrieren: Zeigt den kleinen roten Mülleimer und erwähnt, dass dieser nur sichtbar und nutzbar ist, weil ihr der Owner seid (und löscht testweise einen Termin oder ein Interesse per Modal-Popup).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zum Fazit zu kommen: Haben wir unsere Projektziele erreicht? Definitiv. Wir haben ein funktionierendes MVP auf die Beine gestellt, das modern aussieht und das Kernproblem der Terminfindung löst.</a:t>
            </a:r>
          </a:p>
          <a:p/>
          <a:p>
            <a:r>
              <a:t>Natürlich gibt es immer Raum für Verbesserungen. In Zukunft würden wir gerne eine Kalender-Schnittstelle einbauen, damit Termine direkt ins Handy wandern, sowie echte Push-Benachrichtigungen integrieren.</a:t>
            </a:r>
          </a:p>
          <a:p/>
          <a:p>
            <a:r>
              <a:t>Damit sind wir am Ende unserer Präsentation. Vielen Dank für die Aufmerksamkeit! Gibt es Fragen?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4B8A6"/>
                </a:solidFill>
                <a:latin typeface="Outfit"/>
              </a:defRPr>
            </a:pPr>
            <a:r>
              <a:t>MeetPoint</a:t>
            </a:r>
          </a:p>
          <a:p>
            <a:pPr algn="ctr">
              <a:spcBef>
                <a:spcPts val="800"/>
              </a:spcBef>
              <a:spcAft>
                <a:spcPts val="4000"/>
              </a:spcAft>
              <a:defRPr sz="2600">
                <a:solidFill>
                  <a:srgbClr val="FFFFFF"/>
                </a:solidFill>
                <a:latin typeface="Outfit"/>
              </a:defRPr>
            </a:pPr>
            <a:r>
              <a:t>Treffen planen, ohne Chat-Chaos</a:t>
            </a:r>
          </a:p>
          <a:p>
            <a:pPr algn="ctr">
              <a:defRPr sz="1600">
                <a:solidFill>
                  <a:srgbClr val="94A3B8"/>
                </a:solidFill>
                <a:latin typeface="Outfit"/>
              </a:defRPr>
            </a:pPr>
            <a:r>
              <a:t>Modul M 306 — Abschlusspräsentation &amp; Produktdemo</a:t>
            </a:r>
          </a:p>
          <a:p>
            <a:pPr algn="ctr">
              <a:spcBef>
                <a:spcPts val="6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Erstellt von: Boris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Projektübersicht: Ausgangslage &amp; Ziel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DIE AUSGANGSLAGE (DAS PROBLEM)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Unübersichtlich:</a:t>
            </a:r>
            <a:r>
              <a:rPr sz="1400" b="0">
                <a:solidFill>
                  <a:srgbClr val="FFFFFF"/>
                </a:solidFill>
                <a:latin typeface="Outfit"/>
              </a:rPr>
              <a:t> WhatsApp-Gruppenchats versinken schnell im Chaos.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Verlust:</a:t>
            </a:r>
            <a:r>
              <a:rPr sz="1400" b="0">
                <a:solidFill>
                  <a:srgbClr val="FFFFFF"/>
                </a:solidFill>
                <a:latin typeface="Outfit"/>
              </a:rPr>
              <a:t> Wichtige Details und Terminvorschläge gehen unter.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Kompliziert:</a:t>
            </a:r>
            <a:r>
              <a:rPr sz="1400" b="0">
                <a:solidFill>
                  <a:srgbClr val="FFFFFF"/>
                </a:solidFill>
                <a:latin typeface="Outfit"/>
              </a:rPr>
              <a:t> Abstimmungen sind unstrukturiert und mühsam.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Fehlende Übersicht:</a:t>
            </a:r>
            <a:r>
              <a:rPr sz="1400" b="0">
                <a:solidFill>
                  <a:srgbClr val="FFFFFF"/>
                </a:solidFill>
                <a:latin typeface="Outfit"/>
              </a:rPr>
              <a:t> Keine zentrale Stelle für alle Gruppenaktivitäten.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DAS PROJEKTZIEL (DIE LÖSUNG)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Zentrale Web-App:</a:t>
            </a:r>
            <a:r>
              <a:rPr sz="1400" b="0">
                <a:solidFill>
                  <a:srgbClr val="FFFFFF"/>
                </a:solidFill>
                <a:latin typeface="Outfit"/>
              </a:rPr>
              <a:t> Alle Aktivitäten und Termine an einem Ort.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Strukturiert:</a:t>
            </a:r>
            <a:r>
              <a:rPr sz="1400" b="0">
                <a:solidFill>
                  <a:srgbClr val="FFFFFF"/>
                </a:solidFill>
                <a:latin typeface="Outfit"/>
              </a:rPr>
              <a:t> Integrierte Gruppenverwaltung und Interessen-Tracking.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Einfach:</a:t>
            </a:r>
            <a:r>
              <a:rPr sz="1400" b="0">
                <a:solidFill>
                  <a:srgbClr val="FFFFFF"/>
                </a:solidFill>
                <a:latin typeface="Outfit"/>
              </a:rPr>
              <a:t> Intelligente Terminfindung durch direktes Abstimmen.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Klarheit:</a:t>
            </a:r>
            <a:r>
              <a:rPr sz="1400" b="0">
                <a:solidFill>
                  <a:srgbClr val="FFFFFF"/>
                </a:solidFill>
                <a:latin typeface="Outfit"/>
              </a:rPr>
              <a:t> Automatische Ermittlung des besten Termins (🏆 Bester Termin).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Analyse und Entscheid: Anforderungen &amp; Architektur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WICHTIGSTE ANFORDERUNGEN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Gruppenverwaltung: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Erstellen und Verwalten von Themengruppen.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Interessen-Tracking:</a:t>
            </a:r>
            <a:r>
              <a:rPr sz="1400" b="0">
                <a:solidFill>
                  <a:srgbClr val="FFFFFF"/>
                </a:solidFill>
                <a:latin typeface="Outfit"/>
              </a:rPr>
              <a:t> Schnelles Zuweisen von Interessen für passende Vorschläge.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Aktivitäten: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Erstellen von Terminvorschlägen pro Aktivität.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Abstimmungssystem:</a:t>
            </a:r>
            <a:r>
              <a:rPr sz="1400" b="0">
                <a:solidFill>
                  <a:srgbClr val="FFFFFF"/>
                </a:solidFill>
                <a:latin typeface="Outfit"/>
              </a:rPr>
              <a:t> Einfaches Abstimmen (Ja/Nein) pro Termin.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Modernes UI:</a:t>
            </a:r>
            <a:r>
              <a:rPr sz="1400" b="0">
                <a:solidFill>
                  <a:srgbClr val="FFFFFF"/>
                </a:solidFill>
                <a:latin typeface="Outfit"/>
              </a:rPr>
              <a:t> Responsive Dark-Mode Design mit modernem Look.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TECHNISCHE ARCHITEKTUR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Frontend:</a:t>
            </a:r>
            <a:r>
              <a:rPr sz="1400" b="0">
                <a:solidFill>
                  <a:srgbClr val="FFFFFF"/>
                </a:solidFill>
                <a:latin typeface="Outfit"/>
              </a:rPr>
              <a:t> Vue.js 3 (Vite) + Vanilla CSS (Glassmorphism) für ein reaktives, modernes UI.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Backend:</a:t>
            </a:r>
            <a:r>
              <a:rPr sz="1400" b="0">
                <a:solidFill>
                  <a:srgbClr val="FFFFFF"/>
                </a:solidFill>
                <a:latin typeface="Outfit"/>
              </a:rPr>
              <a:t> PostgreSQL + PostgREST über Docker für eine sofort einsatzbereite, performante REST-API.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Begründung:</a:t>
            </a:r>
            <a:r>
              <a:rPr sz="1400" b="0">
                <a:solidFill>
                  <a:srgbClr val="FFFFFF"/>
                </a:solidFill>
                <a:latin typeface="Outfit"/>
              </a:rPr>
              <a:t> Schnelle Entwicklungszyklen durch automatische API-Generierung aus der Datenbank und saubere Trennung von DB und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Herausforderungen: Risiken &amp; Massnahmen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DAS RISIKO (DATA INTEGRITY)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MVP ohne JWT-Token:</a:t>
            </a:r>
            <a:r>
              <a:rPr sz="1400" b="0">
                <a:solidFill>
                  <a:srgbClr val="FFFFFF"/>
                </a:solidFill>
                <a:latin typeface="Outfit"/>
              </a:rPr>
              <a:t> Zur Vereinfachung startete das MVP ohne vollwertige Token-Authentifizierung.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Sicherheitsrisiko:</a:t>
            </a:r>
            <a:r>
              <a:rPr sz="1400" b="0">
                <a:solidFill>
                  <a:srgbClr val="FFFFFF"/>
                </a:solidFill>
                <a:latin typeface="Outfit"/>
              </a:rPr>
              <a:t> Benutzer könnten theoretisch über API-Anfragen fremde Gruppen, Interessen oder Termine löschen.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Gefahr:</a:t>
            </a:r>
            <a:r>
              <a:rPr sz="1400" b="0">
                <a:solidFill>
                  <a:srgbClr val="FFFFFF"/>
                </a:solidFill>
                <a:latin typeface="Outfit"/>
              </a:rPr>
              <a:t> Verlust der Datenintegrität und mutwillige Zerstörung durch unbefugte Nutzer.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DIE SICHERHEITSMASSNAHMEN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Gesperrte API:</a:t>
            </a:r>
            <a:r>
              <a:rPr sz="1400" b="0">
                <a:solidFill>
                  <a:srgbClr val="FFFFFF"/>
                </a:solidFill>
                <a:latin typeface="Outfit"/>
              </a:rPr>
              <a:t> Generelle DELETE-Rechte in der API (PostgREST) wurden komplett deaktiviert.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Sichere DB-Funktionen:</a:t>
            </a:r>
            <a:r>
              <a:rPr sz="1400" b="0">
                <a:solidFill>
                  <a:srgbClr val="FFFFFF"/>
                </a:solidFill>
                <a:latin typeface="Outfit"/>
              </a:rPr>
              <a:t> Verwendung von sicheren PostgreSQL RPC-Funktionen für Löschvorgänge.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Innere Prüfung:</a:t>
            </a:r>
            <a:r>
              <a:rPr sz="1400" b="0">
                <a:solidFill>
                  <a:srgbClr val="FFFFFF"/>
                </a:solidFill>
                <a:latin typeface="Outfit"/>
              </a:rPr>
              <a:t> Die Datenbank prüft bei jedem RPC-Aufruf selbstständig, ob der anfragende Nutzer der Ersteller ('Creator' oder 'Owner') ist.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Ergebnis:</a:t>
            </a:r>
            <a:r>
              <a:rPr sz="1400" b="0">
                <a:solidFill>
                  <a:srgbClr val="FFFFFF"/>
                </a:solidFill>
                <a:latin typeface="Outfit"/>
              </a:rPr>
              <a:t> Nur berechtigte Personen können Einträge löschen.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Produktdemo: Live-Vorführung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340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798545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ABLAUF DER LIVE-DEMO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1. Login &amp; Dashboard: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 Übersicht über die Benutzeroberfläche.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2. Gruppe erstellen:</a:t>
            </a:r>
            <a:r>
              <a:rPr sz="1400" b="0">
                <a:solidFill>
                  <a:srgbClr val="FFFFFF"/>
                </a:solidFill>
                <a:latin typeface="Outfit"/>
              </a:rPr>
              <a:t> Live-Erstellung einer Gruppe (z.B. 'Sommerferien-Crew').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3. Interessen festlegen:</a:t>
            </a:r>
            <a:r>
              <a:rPr sz="1400" b="0">
                <a:solidFill>
                  <a:srgbClr val="FFFFFF"/>
                </a:solidFill>
                <a:latin typeface="Outfit"/>
              </a:rPr>
              <a:t> Zuweisen von Interessen (z.B. 'Sport', 'Essen').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4. Aktivität planen:</a:t>
            </a:r>
            <a:r>
              <a:rPr sz="1400" b="0">
                <a:solidFill>
                  <a:srgbClr val="FFFFFF"/>
                </a:solidFill>
                <a:latin typeface="Outfit"/>
              </a:rPr>
              <a:t> Neue Aktivität erstellen und mit Interessen-Chips taggen.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5. Termine &amp; Abstimmung:</a:t>
            </a:r>
            <a:r>
              <a:rPr sz="1400" b="0">
                <a:solidFill>
                  <a:srgbClr val="FFFFFF"/>
                </a:solidFill>
                <a:latin typeface="Outfit"/>
              </a:rPr>
              <a:t> Erstellen von Vorschlägen und reaktives Abstimmen.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6. Automatische Auswertung:</a:t>
            </a:r>
            <a:r>
              <a:rPr sz="1400" b="0">
                <a:solidFill>
                  <a:srgbClr val="FFFFFF"/>
                </a:solidFill>
                <a:latin typeface="Outfit"/>
              </a:rPr>
              <a:t> Live-Ermittlung des besten Termins (🏆 Bester Termin).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7. Berechtigungen:</a:t>
            </a:r>
            <a:r>
              <a:rPr sz="1400" b="0">
                <a:solidFill>
                  <a:srgbClr val="FFFFFF"/>
                </a:solidFill>
                <a:latin typeface="Outfit"/>
              </a:rPr>
              <a:t> Vorführen der Löschfunktion über sichere Modals (nur für den Owner).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Fazit &amp; 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Outfit"/>
              </a:defRPr>
            </a:pPr>
            <a:r>
              <a:t>MeetPoint — Modul M 306 Abschlusspräsentation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ZIELERREICHUNG &amp; FAZIT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Ziele voll erreicht:</a:t>
            </a:r>
            <a:r>
              <a:rPr sz="1400" b="0">
                <a:solidFill>
                  <a:srgbClr val="FFFFFF"/>
                </a:solidFill>
                <a:latin typeface="Outfit"/>
              </a:rPr>
              <a:t> Ein voll funktionsfähiges MVP wurde erfolgreich implementiert und in der Praxis getestet.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Chat-Chaos gelöst:</a:t>
            </a:r>
            <a:r>
              <a:rPr sz="1400" b="0">
                <a:solidFill>
                  <a:srgbClr val="FFFFFF"/>
                </a:solidFill>
                <a:latin typeface="Outfit"/>
              </a:rPr>
              <a:t> Die strukturierte Terminfindung spart Zeit und Nerven.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Modernes Design:</a:t>
            </a:r>
            <a:r>
              <a:rPr sz="1400" b="0">
                <a:solidFill>
                  <a:srgbClr val="FFFFFF"/>
                </a:solidFill>
                <a:latin typeface="Outfit"/>
              </a:rPr>
              <a:t> Glassmorphic Dark-Mode überzeugt durch hohe Benutzerfreundlichkeit.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92024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  <a:latin typeface="Outfit"/>
              </a:defRPr>
            </a:pPr>
            <a:r>
              <a:t>ZUKÜNFTIGE ERWEITERUNGEN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Standard-Authentifizierung:</a:t>
            </a:r>
            <a:r>
              <a:rPr sz="1400" b="0">
                <a:solidFill>
                  <a:srgbClr val="FFFFFF"/>
                </a:solidFill>
                <a:latin typeface="Outfit"/>
              </a:rPr>
              <a:t> Anbindung einer vollwertigen JWT-Authentifizierung im Produktivsystem.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Kalender-Export:</a:t>
            </a:r>
            <a:r>
              <a:rPr sz="1400" b="0">
                <a:solidFill>
                  <a:srgbClr val="FFFFFF"/>
                </a:solidFill>
                <a:latin typeface="Outfit"/>
              </a:rPr>
              <a:t> Exportfunktion (.ics) für Google Calendar, Apple Calendar, etc.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Outfit"/>
              </a:defRPr>
            </a:pPr>
            <a:r>
              <a:t>•  </a:t>
            </a:r>
            <a:r>
              <a:rPr sz="1400" b="1">
                <a:solidFill>
                  <a:srgbClr val="FFFFFF"/>
                </a:solidFill>
                <a:latin typeface="Outfit"/>
              </a:rPr>
              <a:t>Push-Benachrichtigungen:</a:t>
            </a:r>
            <a:r>
              <a:rPr sz="1400" b="0">
                <a:solidFill>
                  <a:srgbClr val="FFFFFF"/>
                </a:solidFill>
                <a:latin typeface="Outfit"/>
              </a:rPr>
              <a:t> E-Mail- oder Push-Dienste bei neuen Terminvorschlägen oder Abstimmungen.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