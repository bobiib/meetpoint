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Guten Tag zusammen und herzlich willkommen zu unserer Abschlusspräsentation für das Modul 306. Wir freuen uns sehr, Ihnen heute unser Abschlussprojekt 'MeetPoint' vorstellen zu dürfen.</a:t>
            </a:r>
          </a:p>
          <a:p/>
          <a:p>
            <a:r>
              <a:t>Jeder von uns kennt dieses Problem aus dem Alltag: Man möchte sich mit Freunden treffen, einen gemeinsamen Grillabend organisieren, Sport treiben oder die Sommerferien planen. Die Absprache in klassischen Messengern wie WhatsApp endet jedoch meist in einer endlosen Flut von Nachrichten. Details gehen verloren, Terminvorschläge werden überschrieben und am Ende weiss niemand mehr genau, wer zugesagt hat und worauf man sich geeinigt hat.</a:t>
            </a:r>
          </a:p>
          <a:p/>
          <a:p>
            <a:r>
              <a:t>Genau hier setzt MeetPoint an. Wir haben eine Web-Applikation entwickelt, die dieses 'Chat-Chaos' beseitigt. In den nächsten 12 Minuten möchten wir Ihnen unsere Ausgangslage, die Anforderungen, unsere technische Architektur sowie die grössten Herausforderungen vorstellen. Das Herzstück der Präsentation bildet eine anschliessende Live-Demo, in der wir Ihnen die voll funktionsfähige App zeigen.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Beginnen wir mit der Projektübersicht und unserer Motivation für MeetPoint.</a:t>
            </a:r>
          </a:p>
          <a:p/>
          <a:p>
            <a:r>
              <a:t>Die klassische Terminfindung in Freundesgruppen ist extrem ineffizient. Natürlich existieren bereits Hilfsmittel. Doch wenn man WhatsApp-Umfragen nutzt, verschwinden diese im Verlauf und man muss mühsam hochscrollen. Verwendet man Doodle, stört die massive Werbung, und die Plattform ist für wiederkehrende Freundesgruppen viel zu unpersönlich und bietet keine Möglichkeit, Gruppen dauerhaft zu speichern.</a:t>
            </a:r>
          </a:p>
          <a:p/>
          <a:p>
            <a:r>
              <a:t>Unser Projektziel war es daher, eine spezialisierte Komplettlösung zu schaffen. In MeetPoint ist jede Gruppe ein fester Workspace. Mitglieder können ihre Interessen angeben, damit die Gruppe sofort sieht, welche Aktivitäten überhaupt Sinn machen. Das Kern-Feature ist unser Abstimmungssystem: Sobald eine Aktivität erstellt wird, können mehrere Termine vorgeschlagen werden. Die Gruppenmitglieder stimmen ab, und das System berechnet live und dynamisch, welcher Termin die maximale Zustimmung hat. Das verkürzt die Planung von Tagen auf wenige Sekunden und schafft absolute Klarheit für alle Beteiligten.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die technische Umsetzung haben wir uns im Vorfeld intensiv mit der Architektur und den Anforderungen auseinandergesetzt.</a:t>
            </a:r>
          </a:p>
          <a:p/>
          <a:p>
            <a:r>
              <a:t>Bei den funktionalen Anforderungen war uns wichtig, dass die App absolut dynamisch wirkt. Wenn ein Benutzer seine Stimme abgibt, darf die Seite nicht neu laden müssen – der Daumen-Zähler und der Gewinner-Termin müssen sich sofort aktualisieren. Ausserdem wollten wir ein premium-ähnliches Design, weshalb wir uns für ein modernes Dark-Theme mit transparenten 'Glassmorphism'-Elementen entschieden haben.</a:t>
            </a:r>
          </a:p>
          <a:p/>
          <a:p>
            <a:r>
              <a:t>In der Architektur haben wir eine klare Trennung vollzogen. Im Frontend nutzen wir Vue 3 mit TypeScript. Vue bietet uns eine reaktive Datenbindung und eine saubere Strukturierung in wiederverwendbare UI-Komponenten. Im Backend setzen wir auf eine PostgreSQL-Datenbank. Um nicht wochenlang ein eigenes Backend-API-Projekt in Node.js oder C# schreiben zu müssen, haben wir PostgREST gewählt. PostgREST läuft in einem Docker-Container und stellt uns automatisch eine REST-API auf Basis unserer Datenbanktabellen zur Verfügung. Jede Tabellenänderung spiegelt sich sofort in der API wider. Das hat uns enorm viel Entwicklungszeit gespart, die wir stattdessen in die Verfeinerung des Frontends investieren konnten.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grösste technische Herausforderung bei diesem Projekt war das Sicherheits- und Berechtigungskonzept.</a:t>
            </a:r>
          </a:p>
          <a:p/>
          <a:p>
            <a:r>
              <a:t>Da wir für das gesamte Projekt nur wenig Zeit hatten, konnten wir kein vollwertiges JWT-Token-System integrieren. Das führte zu einem grossen Risiko: Die automatisch generierte API von PostgREST erlaubt standardmässig jedem, der die URL kennt, Daten abzufragen und zu löschen. Ein böswilliger Nutzer hätte also über Tools wie Postman fremde Gruppen, Interessen oder Termine löschen können.</a:t>
            </a:r>
          </a:p>
          <a:p/>
          <a:p>
            <a:r>
              <a:t>Um diese kritische Sicherheitslücke zu schliessen, haben wir das Problem direkt in der Datenbank gelöst. Wir haben der API jegliche direkten Löschrechte auf den Tabellen entzogen. Stattdessen haben wir serverseitige PostgreSQL-Funktionen (sogenannte Remote Procedure Calls oder Stored Procedures) geschrieben. Wenn ein Nutzer nun im Frontend auf 'Löschen' klickt, ruft er diese DB-Funktion auf. Die Funktion prüft intern in der Datenbank, ob die ID des Nutzers mit dem Ersteller des Eintrags oder dem Besitzer der Gruppe übereinstimmt. Nur wenn diese Prüfung erfolgreich ist, wird der Löschvorgang ausgeführt. Damit ist das Löschen absolut manipulationssicher – selbst wenn jemand versucht, die API direkt anzusprechen. Das garantiert die Datenintegrität auf Serverebene.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 kommen wir zum Kernstück unserer Präsentation: der Live-Demo. Wir möchten Ihnen zeigen, dass die Theorie auch in der Praxis einwandfrei funktioniert.</a:t>
            </a:r>
          </a:p>
          <a:p/>
          <a:p>
            <a:r>
              <a:t>1. Start: Wir starten auf unserer Login-Seite. Die UI ist sauber aufgeteilt. Wir loggen uns mit einem Test-Account ein.</a:t>
            </a:r>
          </a:p>
          <a:p>
            <a:r>
              <a:t>2. Dashboard: Auf der linken Seite sehen wir die Navigation. Wir erstellen nun live eine neue Gruppe namens 'Sommerferien-Crew'.</a:t>
            </a:r>
          </a:p>
          <a:p>
            <a:r>
              <a:t>3. Interessen: Für diese Gruppe fügen wir Interessen hinzu (z.B. 'Essen' und 'Sport'). Sie sehen, wie schnell die Chips hinzugefügt werden.</a:t>
            </a:r>
          </a:p>
          <a:p>
            <a:r>
              <a:t>4. Aktivität erstellen: Nun planen wir eine konkrete Aktivität: Einen 'Grillabend'. Wir weisen dieser Aktivität das Interesse 'Essen' zu.</a:t>
            </a:r>
          </a:p>
          <a:p>
            <a:r>
              <a:t>5. Termine &amp; Abstimmung: Für diesen Grillabend erstellen wir zwei Terminvorschläge. Jetzt stimmen wir ab: Ein Termin erhält ein 👍, der andere ein 👎.</a:t>
            </a:r>
          </a:p>
          <a:p>
            <a:r>
              <a:t>6. Die Magie: Sie sehen sofort, dass der Termin mit der positiven Bewertung live als 'Bester Termin' mit einem goldenen Pokal markiert wird. Die Namen der Abstimmenden erscheinen direkt neben den Symbolen.</a:t>
            </a:r>
          </a:p>
          <a:p>
            <a:r>
              <a:t>7. Sicherheit: Zum Abschluss zeigen wir das Berechtigungs-Feature. Da wir der Ersteller sind, sehen wir den roten Mülleimer. Wenn wir darauf klicken, öffnet sich ein schönes Bestätigungs-Modal (kein unprofessioneller Browser-Alert) und wir können das Element sicher löschen. Loggt sich ein anderes Mitglied ein, ist diese Option nicht verfügbar.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Kommen wir zum Fazit und Ausblick unseres Projekts.</a:t>
            </a:r>
          </a:p>
          <a:p/>
          <a:p>
            <a:r>
              <a:t>Haben wir unsere Ziele erreicht? Definitiv. Wir haben ein funktionierendes MVP auf die Beine gestellt, das stabil läuft und das Kernproblem der unübersichtlichen Terminabstimmung löst. Eine wichtige Erkenntnis war für uns, dass eine saubere Datenstrukturierung zu Beginn des Projekts im Nachgang extrem viel Arbeit erspart.</a:t>
            </a:r>
          </a:p>
          <a:p/>
          <a:p>
            <a:r>
              <a:t>Nun zu unserer Arbeitsmethodik: Wir möchten ganz offen und ehrlich reflektieren, dass wir in diesem Projekt intensiv mit KI-Assistenten zusammengearbeitet haben. Da wir nur sehr wenig Zeit zur Verfügung hatten, war dies die einzige Möglichkeit, ein derart komplexes Full-Stack-Projekt mit Vue 3 Frontend, custom Styling und PostgreSQL-Datenbank sicher und sauber abzuschliessen. Anstatt stundenlang nach Syntaxfehlern im CSS oder fehlerhaften SQL-Joins zu suchen, konnten wir die KI nutzen, um Code-Segmente zu schreiben und abzusichern. Das war für uns eine hervorragende und zukunftsweisende Erfahrung, da AI-Assisted-Coding mittlerweile in der professionellen Softwareentwicklung zum Standard gehört. Es hat uns gezeigt, wie man durch präzise Anweisungen und logisches Mitdenken als Entwickler ein Vielfaches an Produktivität erzielen kann.</a:t>
            </a:r>
          </a:p>
          <a:p/>
          <a:p>
            <a:r>
              <a:t>Für die Zukunft haben wir bereits Pläne zur Erweiterung. Wir möchten eine vollwertige JWT-Authentifizierung einbauen, damit jeder Nutzer sein eigenes, passwortgeschütztes Konto besitzt. Zudem planen wir eine Export-Schnittstelle zu Google und Apple Kalendern sowie automatische Push-Benachrichtigungen bei Abstimmungen.</a:t>
            </a:r>
          </a:p>
          <a:p/>
          <a:p>
            <a:r>
              <a:t>Damit sind wir am Ende unserer Präsentation angelangt. Wir bedanken sich herzlich für Ihre Aufmerksamkeit und freuen uns nun auf Ihre Fragen!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1645920"/>
            <a:ext cx="10362895" cy="4114800"/>
          </a:xfrm>
          <a:prstGeom prst="rect">
            <a:avLst/>
          </a:prstGeom>
          <a:noFill/>
        </p:spPr>
        <p:txBody>
          <a:bodyPr wrap="square">
            <a:spAutoFit/>
          </a:bodyPr>
          <a:lstStyle/>
          <a:p>
            <a:pPr algn="ctr">
              <a:defRPr sz="6800" b="1">
                <a:solidFill>
                  <a:srgbClr val="14B8A6"/>
                </a:solidFill>
                <a:latin typeface="Outfit"/>
              </a:defRPr>
            </a:pPr>
            <a:r>
              <a:t>MeetPoint</a:t>
            </a:r>
          </a:p>
          <a:p>
            <a:pPr algn="ctr">
              <a:spcBef>
                <a:spcPts val="1000"/>
              </a:spcBef>
              <a:spcAft>
                <a:spcPts val="4500"/>
              </a:spcAft>
              <a:defRPr sz="2400">
                <a:solidFill>
                  <a:srgbClr val="FFFFFF"/>
                </a:solidFill>
                <a:latin typeface="Outfit"/>
              </a:defRPr>
            </a:pPr>
            <a:r>
              <a:t>Die smarte Web-App für Gruppen-Aktivitäten und Terminfindung</a:t>
            </a:r>
          </a:p>
          <a:p>
            <a:pPr algn="ctr">
              <a:defRPr sz="1600">
                <a:solidFill>
                  <a:srgbClr val="94A3B8"/>
                </a:solidFill>
                <a:latin typeface="Outfit"/>
              </a:defRPr>
            </a:pPr>
            <a:r>
              <a:t>Modul M 306 — Abschlusspräsentation &amp; Produktdemo</a:t>
            </a:r>
          </a:p>
          <a:p>
            <a:pPr algn="ctr">
              <a:spcBef>
                <a:spcPts val="600"/>
              </a:spcBef>
              <a:defRPr sz="1400">
                <a:solidFill>
                  <a:srgbClr val="94A3B8"/>
                </a:solidFill>
                <a:latin typeface="Outfit"/>
              </a:defRPr>
            </a:pPr>
            <a:r>
              <a:t>Vorgestellt von: Boris &amp; Projektteam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20095" cy="731520"/>
          </a:xfrm>
          <a:prstGeom prst="rect">
            <a:avLst/>
          </a:prstGeom>
          <a:noFill/>
        </p:spPr>
        <p:txBody>
          <a:bodyPr wrap="square" lIns="0" tIns="0" rIns="0" bIns="0">
            <a:spAutoFit/>
          </a:bodyPr>
          <a:lstStyle/>
          <a:p>
            <a:pPr>
              <a:defRPr sz="3600" b="1">
                <a:solidFill>
                  <a:srgbClr val="FFFFFF"/>
                </a:solidFill>
                <a:latin typeface="Outfit"/>
              </a:defRPr>
            </a:pPr>
            <a:r>
              <a:t>Projektübersicht: Ausgangslage &amp; Motivation</a:t>
            </a:r>
          </a:p>
        </p:txBody>
      </p:sp>
      <p:sp>
        <p:nvSpPr>
          <p:cNvPr id="3" name="Rectangle 2"/>
          <p:cNvSpPr/>
          <p:nvPr/>
        </p:nvSpPr>
        <p:spPr>
          <a:xfrm>
            <a:off x="685800" y="1188720"/>
            <a:ext cx="10820095"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400800"/>
            <a:ext cx="10820095" cy="274320"/>
          </a:xfrm>
          <a:prstGeom prst="rect">
            <a:avLst/>
          </a:prstGeom>
          <a:noFill/>
        </p:spPr>
        <p:txBody>
          <a:bodyPr wrap="square" lIns="0" tIns="0" rIns="0" bIns="0">
            <a:spAutoFit/>
          </a:bodyPr>
          <a:lstStyle/>
          <a:p>
            <a:pPr>
              <a:defRPr sz="1100">
                <a:solidFill>
                  <a:srgbClr val="94A3B8"/>
                </a:solidFill>
                <a:latin typeface="Outfit"/>
              </a:defRPr>
            </a:pPr>
            <a:r>
              <a:t>MeetPoint — Modul M 306 Abschlusspräsentation</a:t>
            </a:r>
          </a:p>
        </p:txBody>
      </p:sp>
      <p:sp>
        <p:nvSpPr>
          <p:cNvPr id="5" name="Rounded Rectangle 4"/>
          <p:cNvSpPr/>
          <p:nvPr/>
        </p:nvSpPr>
        <p:spPr>
          <a:xfrm>
            <a:off x="685800" y="1645920"/>
            <a:ext cx="5120640" cy="438912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DIE AUSGANGSLAGE (DAS PROBLEM)</a:t>
            </a:r>
          </a:p>
          <a:p>
            <a:pPr>
              <a:spcAft>
                <a:spcPts val="800"/>
              </a:spcAft>
              <a:defRPr sz="1400">
                <a:solidFill>
                  <a:srgbClr val="94A3B8"/>
                </a:solidFill>
                <a:latin typeface="Outfit"/>
              </a:defRPr>
            </a:pPr>
            <a:r>
              <a:t>•  </a:t>
            </a:r>
            <a:r>
              <a:rPr sz="1400" b="1">
                <a:solidFill>
                  <a:srgbClr val="FFFFFF"/>
                </a:solidFill>
                <a:latin typeface="Outfit"/>
              </a:rPr>
              <a:t>Nachrichten-Flut:</a:t>
            </a:r>
            <a:r>
              <a:rPr sz="1400" b="0">
                <a:solidFill>
                  <a:srgbClr val="FFFFFF"/>
                </a:solidFill>
                <a:latin typeface="Outfit"/>
              </a:rPr>
              <a:t> Relevante Termindetails gehen in Gruppenchats extrem schnell unter.</a:t>
            </a:r>
          </a:p>
          <a:p>
            <a:pPr>
              <a:spcAft>
                <a:spcPts val="800"/>
              </a:spcAft>
              <a:defRPr sz="1400">
                <a:solidFill>
                  <a:srgbClr val="94A3B8"/>
                </a:solidFill>
                <a:latin typeface="Outfit"/>
              </a:defRPr>
            </a:pPr>
            <a:r>
              <a:t>•  </a:t>
            </a:r>
            <a:r>
              <a:rPr sz="1400" b="1">
                <a:solidFill>
                  <a:srgbClr val="FFFFFF"/>
                </a:solidFill>
                <a:latin typeface="Outfit"/>
              </a:rPr>
              <a:t>Mangelnde Übersicht:</a:t>
            </a:r>
            <a:r>
              <a:rPr sz="1400" b="0">
                <a:solidFill>
                  <a:srgbClr val="FFFFFF"/>
                </a:solidFill>
                <a:latin typeface="Outfit"/>
              </a:rPr>
              <a:t> Es gibt keinen zentralen Ort für Gruppen-Aktivitäten.</a:t>
            </a:r>
          </a:p>
          <a:p>
            <a:pPr>
              <a:spcAft>
                <a:spcPts val="800"/>
              </a:spcAft>
              <a:defRPr sz="1400">
                <a:solidFill>
                  <a:srgbClr val="94A3B8"/>
                </a:solidFill>
                <a:latin typeface="Outfit"/>
              </a:defRPr>
            </a:pPr>
            <a:r>
              <a:t>•  </a:t>
            </a:r>
            <a:r>
              <a:rPr sz="1400" b="1">
                <a:solidFill>
                  <a:srgbClr val="FFFFFF"/>
                </a:solidFill>
                <a:latin typeface="Outfit"/>
              </a:rPr>
              <a:t>Unflexible Alternativen:</a:t>
            </a:r>
            <a:r>
              <a:rPr sz="1400" b="0">
                <a:solidFill>
                  <a:srgbClr val="FFFFFF"/>
                </a:solidFill>
                <a:latin typeface="Outfit"/>
              </a:rPr>
              <a:t> Doodle ist unpersönlich und mit Werbung überladen; WhatsApp-Polls sind kurzlebig und bieten keine persistenten Gruppen.</a:t>
            </a:r>
          </a:p>
          <a:p>
            <a:pPr>
              <a:spcAft>
                <a:spcPts val="800"/>
              </a:spcAft>
              <a:defRPr sz="1400">
                <a:solidFill>
                  <a:srgbClr val="94A3B8"/>
                </a:solidFill>
                <a:latin typeface="Outfit"/>
              </a:defRPr>
            </a:pPr>
            <a:r>
              <a:t>•  </a:t>
            </a:r>
            <a:r>
              <a:rPr sz="1400" b="1">
                <a:solidFill>
                  <a:srgbClr val="FFFFFF"/>
                </a:solidFill>
                <a:latin typeface="Outfit"/>
              </a:rPr>
              <a:t>Frustration:</a:t>
            </a:r>
            <a:r>
              <a:rPr sz="1400" b="0">
                <a:solidFill>
                  <a:srgbClr val="FFFFFF"/>
                </a:solidFill>
                <a:latin typeface="Outfit"/>
              </a:rPr>
              <a:t> Hoher Zeitaufwand für einfachste Terminabsprachen.</a:t>
            </a:r>
          </a:p>
        </p:txBody>
      </p:sp>
      <p:sp>
        <p:nvSpPr>
          <p:cNvPr id="7" name="Rounded Rectangle 6"/>
          <p:cNvSpPr/>
          <p:nvPr/>
        </p:nvSpPr>
        <p:spPr>
          <a:xfrm>
            <a:off x="6385255" y="1645920"/>
            <a:ext cx="5120640" cy="4389120"/>
          </a:xfrm>
          <a:prstGeom prst="roundRect">
            <a:avLst/>
          </a:prstGeom>
          <a:solidFill>
            <a:srgbClr val="1E293B"/>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59575"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DAS PROJEKTZIEL (DIE LÖSUNG)</a:t>
            </a:r>
          </a:p>
          <a:p>
            <a:pPr>
              <a:spcAft>
                <a:spcPts val="800"/>
              </a:spcAft>
              <a:defRPr sz="1400">
                <a:solidFill>
                  <a:srgbClr val="94A3B8"/>
                </a:solidFill>
                <a:latin typeface="Outfit"/>
              </a:defRPr>
            </a:pPr>
            <a:r>
              <a:t>•  </a:t>
            </a:r>
            <a:r>
              <a:rPr sz="1400" b="1">
                <a:solidFill>
                  <a:srgbClr val="FFFFFF"/>
                </a:solidFill>
                <a:latin typeface="Outfit"/>
              </a:rPr>
              <a:t>Zentraler Hub:</a:t>
            </a:r>
            <a:r>
              <a:rPr sz="1400" b="0">
                <a:solidFill>
                  <a:srgbClr val="FFFFFF"/>
                </a:solidFill>
                <a:latin typeface="Outfit"/>
              </a:rPr>
              <a:t> Jede Freundesgruppe erhält einen eigenen, geschützten Workspace.</a:t>
            </a:r>
          </a:p>
          <a:p>
            <a:pPr>
              <a:spcAft>
                <a:spcPts val="800"/>
              </a:spcAft>
              <a:defRPr sz="1400">
                <a:solidFill>
                  <a:srgbClr val="94A3B8"/>
                </a:solidFill>
                <a:latin typeface="Outfit"/>
              </a:defRPr>
            </a:pPr>
            <a:r>
              <a:t>•  </a:t>
            </a:r>
            <a:r>
              <a:rPr sz="1400" b="1">
                <a:solidFill>
                  <a:srgbClr val="FFFFFF"/>
                </a:solidFill>
                <a:latin typeface="Outfit"/>
              </a:rPr>
              <a:t>Interessen-Matching:</a:t>
            </a:r>
            <a:r>
              <a:rPr sz="1400" b="0">
                <a:solidFill>
                  <a:srgbClr val="FFFFFF"/>
                </a:solidFill>
                <a:latin typeface="Outfit"/>
              </a:rPr>
              <a:t> Mitglieder hinterlegen Interessen, um passende Aktivitäten zu finden.</a:t>
            </a:r>
          </a:p>
          <a:p>
            <a:pPr>
              <a:spcAft>
                <a:spcPts val="800"/>
              </a:spcAft>
              <a:defRPr sz="1400">
                <a:solidFill>
                  <a:srgbClr val="94A3B8"/>
                </a:solidFill>
                <a:latin typeface="Outfit"/>
              </a:defRPr>
            </a:pPr>
            <a:r>
              <a:t>•  </a:t>
            </a:r>
            <a:r>
              <a:rPr sz="1400" b="1">
                <a:solidFill>
                  <a:srgbClr val="FFFFFF"/>
                </a:solidFill>
                <a:latin typeface="Outfit"/>
              </a:rPr>
              <a:t>Integrierte Abstimmung:</a:t>
            </a:r>
            <a:r>
              <a:rPr sz="1400" b="0">
                <a:solidFill>
                  <a:srgbClr val="FFFFFF"/>
                </a:solidFill>
                <a:latin typeface="Outfit"/>
              </a:rPr>
              <a:t> Unkompliziertes Abstimmen per Daumen-Voting direkt an der Aktivität.</a:t>
            </a:r>
          </a:p>
          <a:p>
            <a:pPr>
              <a:spcAft>
                <a:spcPts val="800"/>
              </a:spcAft>
              <a:defRPr sz="1400">
                <a:solidFill>
                  <a:srgbClr val="94A3B8"/>
                </a:solidFill>
                <a:latin typeface="Outfit"/>
              </a:defRPr>
            </a:pPr>
            <a:r>
              <a:t>•  </a:t>
            </a:r>
            <a:r>
              <a:rPr sz="1400" b="1">
                <a:solidFill>
                  <a:srgbClr val="FFFFFF"/>
                </a:solidFill>
                <a:latin typeface="Outfit"/>
              </a:rPr>
              <a:t>Automatische Auswertung:</a:t>
            </a:r>
            <a:r>
              <a:rPr sz="1400" b="0">
                <a:solidFill>
                  <a:srgbClr val="FFFFFF"/>
                </a:solidFill>
                <a:latin typeface="Outfit"/>
              </a:rPr>
              <a:t> Die App ermittelt in Echtzeit den Sieger-Termin (🏆 Bester Termin).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20095" cy="731520"/>
          </a:xfrm>
          <a:prstGeom prst="rect">
            <a:avLst/>
          </a:prstGeom>
          <a:noFill/>
        </p:spPr>
        <p:txBody>
          <a:bodyPr wrap="square" lIns="0" tIns="0" rIns="0" bIns="0">
            <a:spAutoFit/>
          </a:bodyPr>
          <a:lstStyle/>
          <a:p>
            <a:pPr>
              <a:defRPr sz="3600" b="1">
                <a:solidFill>
                  <a:srgbClr val="FFFFFF"/>
                </a:solidFill>
                <a:latin typeface="Outfit"/>
              </a:defRPr>
            </a:pPr>
            <a:r>
              <a:t>Analyse und Entscheid: Anforderungen &amp; Architektur</a:t>
            </a:r>
          </a:p>
        </p:txBody>
      </p:sp>
      <p:sp>
        <p:nvSpPr>
          <p:cNvPr id="3" name="Rectangle 2"/>
          <p:cNvSpPr/>
          <p:nvPr/>
        </p:nvSpPr>
        <p:spPr>
          <a:xfrm>
            <a:off x="685800" y="1188720"/>
            <a:ext cx="10820095"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400800"/>
            <a:ext cx="10820095" cy="274320"/>
          </a:xfrm>
          <a:prstGeom prst="rect">
            <a:avLst/>
          </a:prstGeom>
          <a:noFill/>
        </p:spPr>
        <p:txBody>
          <a:bodyPr wrap="square" lIns="0" tIns="0" rIns="0" bIns="0">
            <a:spAutoFit/>
          </a:bodyPr>
          <a:lstStyle/>
          <a:p>
            <a:pPr>
              <a:defRPr sz="1100">
                <a:solidFill>
                  <a:srgbClr val="94A3B8"/>
                </a:solidFill>
                <a:latin typeface="Outfit"/>
              </a:defRPr>
            </a:pPr>
            <a:r>
              <a:t>MeetPoint — Modul M 306 Abschlusspräsentation</a:t>
            </a:r>
          </a:p>
        </p:txBody>
      </p:sp>
      <p:sp>
        <p:nvSpPr>
          <p:cNvPr id="5" name="Rounded Rectangle 4"/>
          <p:cNvSpPr/>
          <p:nvPr/>
        </p:nvSpPr>
        <p:spPr>
          <a:xfrm>
            <a:off x="685800" y="1645920"/>
            <a:ext cx="5120640" cy="4389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FUNKTIONALE ANFORDERUNGEN</a:t>
            </a:r>
          </a:p>
          <a:p>
            <a:pPr>
              <a:spcAft>
                <a:spcPts val="800"/>
              </a:spcAft>
              <a:defRPr sz="1400">
                <a:solidFill>
                  <a:srgbClr val="94A3B8"/>
                </a:solidFill>
                <a:latin typeface="Outfit"/>
              </a:defRPr>
            </a:pPr>
            <a:r>
              <a:t>•  </a:t>
            </a:r>
            <a:r>
              <a:rPr sz="1400" b="1">
                <a:solidFill>
                  <a:srgbClr val="FFFFFF"/>
                </a:solidFill>
                <a:latin typeface="Outfit"/>
              </a:rPr>
              <a:t>Gruppenverwaltung:</a:t>
            </a:r>
            <a:r>
              <a:rPr sz="1400" b="0">
                <a:solidFill>
                  <a:srgbClr val="FFFFFF"/>
                </a:solidFill>
                <a:latin typeface="Outfit"/>
              </a:rPr>
              <a:t> Zuordnung von Rollen (Besitzer vs. Mitglieder).</a:t>
            </a:r>
          </a:p>
          <a:p>
            <a:pPr>
              <a:spcAft>
                <a:spcPts val="800"/>
              </a:spcAft>
              <a:defRPr sz="1400">
                <a:solidFill>
                  <a:srgbClr val="94A3B8"/>
                </a:solidFill>
                <a:latin typeface="Outfit"/>
              </a:defRPr>
            </a:pPr>
            <a:r>
              <a:t>•  </a:t>
            </a:r>
            <a:r>
              <a:rPr sz="1400" b="1">
                <a:solidFill>
                  <a:srgbClr val="FFFFFF"/>
                </a:solidFill>
                <a:latin typeface="Outfit"/>
              </a:rPr>
              <a:t>Interessen-Profil:</a:t>
            </a:r>
            <a:r>
              <a:rPr sz="1400" b="0">
                <a:solidFill>
                  <a:srgbClr val="FFFFFF"/>
                </a:solidFill>
                <a:latin typeface="Outfit"/>
              </a:rPr>
              <a:t> Zuordnung von Tags zu Usern und Aktivitäten zur Filterung.</a:t>
            </a:r>
          </a:p>
          <a:p>
            <a:pPr>
              <a:spcAft>
                <a:spcPts val="800"/>
              </a:spcAft>
              <a:defRPr sz="1400">
                <a:solidFill>
                  <a:srgbClr val="94A3B8"/>
                </a:solidFill>
                <a:latin typeface="Outfit"/>
              </a:defRPr>
            </a:pPr>
            <a:r>
              <a:t>•  </a:t>
            </a:r>
            <a:r>
              <a:rPr sz="1400" b="1">
                <a:solidFill>
                  <a:srgbClr val="FFFFFF"/>
                </a:solidFill>
                <a:latin typeface="Outfit"/>
              </a:rPr>
              <a:t>Reaktive Stimmabgabe:</a:t>
            </a:r>
            <a:r>
              <a:rPr sz="1400" b="0">
                <a:solidFill>
                  <a:srgbClr val="FFFFFF"/>
                </a:solidFill>
                <a:latin typeface="Outfit"/>
              </a:rPr>
              <a:t> Stimmenänderungen müssen sofort grafisch reflektiert werden.</a:t>
            </a:r>
          </a:p>
          <a:p>
            <a:pPr>
              <a:spcAft>
                <a:spcPts val="800"/>
              </a:spcAft>
              <a:defRPr sz="1400">
                <a:solidFill>
                  <a:srgbClr val="94A3B8"/>
                </a:solidFill>
                <a:latin typeface="Outfit"/>
              </a:defRPr>
            </a:pPr>
            <a:r>
              <a:t>•  </a:t>
            </a:r>
            <a:r>
              <a:rPr sz="1400" b="1">
                <a:solidFill>
                  <a:srgbClr val="FFFFFF"/>
                </a:solidFill>
                <a:latin typeface="Outfit"/>
              </a:rPr>
              <a:t>Auswertungs-Algorithmus:</a:t>
            </a:r>
            <a:r>
              <a:rPr sz="1400" b="0">
                <a:solidFill>
                  <a:srgbClr val="FFFFFF"/>
                </a:solidFill>
                <a:latin typeface="Outfit"/>
              </a:rPr>
              <a:t> Live-Ermittlung des Termins mit den meisten Zusagen.</a:t>
            </a:r>
          </a:p>
          <a:p>
            <a:pPr>
              <a:spcAft>
                <a:spcPts val="800"/>
              </a:spcAft>
              <a:defRPr sz="1400">
                <a:solidFill>
                  <a:srgbClr val="94A3B8"/>
                </a:solidFill>
                <a:latin typeface="Outfit"/>
              </a:defRPr>
            </a:pPr>
            <a:r>
              <a:t>•  </a:t>
            </a:r>
            <a:r>
              <a:rPr sz="1400" b="1">
                <a:solidFill>
                  <a:srgbClr val="FFFFFF"/>
                </a:solidFill>
                <a:latin typeface="Outfit"/>
              </a:rPr>
              <a:t>Premium Design:</a:t>
            </a:r>
            <a:r>
              <a:rPr sz="1400" b="0">
                <a:solidFill>
                  <a:srgbClr val="FFFFFF"/>
                </a:solidFill>
                <a:latin typeface="Outfit"/>
              </a:rPr>
              <a:t> Konsistenter, augenfreundlicher Dark-Mode mit Glassmorphism-Effekten.</a:t>
            </a:r>
          </a:p>
        </p:txBody>
      </p:sp>
      <p:sp>
        <p:nvSpPr>
          <p:cNvPr id="7" name="Rounded Rectangle 6"/>
          <p:cNvSpPr/>
          <p:nvPr/>
        </p:nvSpPr>
        <p:spPr>
          <a:xfrm>
            <a:off x="6385255" y="1645920"/>
            <a:ext cx="5120640" cy="4389120"/>
          </a:xfrm>
          <a:prstGeom prst="roundRect">
            <a:avLst/>
          </a:prstGeom>
          <a:solidFill>
            <a:srgbClr val="1E293B"/>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59575"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TECHNISCHE UMSETZUNG</a:t>
            </a:r>
          </a:p>
          <a:p>
            <a:pPr>
              <a:spcAft>
                <a:spcPts val="800"/>
              </a:spcAft>
              <a:defRPr sz="1400">
                <a:solidFill>
                  <a:srgbClr val="94A3B8"/>
                </a:solidFill>
                <a:latin typeface="Outfit"/>
              </a:defRPr>
            </a:pPr>
            <a:r>
              <a:t>•  </a:t>
            </a:r>
            <a:r>
              <a:rPr sz="1400" b="1">
                <a:solidFill>
                  <a:srgbClr val="FFFFFF"/>
                </a:solidFill>
                <a:latin typeface="Outfit"/>
              </a:rPr>
              <a:t>Frontend:</a:t>
            </a:r>
            <a:r>
              <a:rPr sz="1400" b="0">
                <a:solidFill>
                  <a:srgbClr val="FFFFFF"/>
                </a:solidFill>
                <a:latin typeface="Outfit"/>
              </a:rPr>
              <a:t> Vue.js 3 (Vite, TypeScript) für eine modulare, performante und reaktive Komponenten-Struktur.</a:t>
            </a:r>
          </a:p>
          <a:p>
            <a:pPr>
              <a:spcAft>
                <a:spcPts val="800"/>
              </a:spcAft>
              <a:defRPr sz="1400">
                <a:solidFill>
                  <a:srgbClr val="94A3B8"/>
                </a:solidFill>
                <a:latin typeface="Outfit"/>
              </a:defRPr>
            </a:pPr>
            <a:r>
              <a:t>•  </a:t>
            </a:r>
            <a:r>
              <a:rPr sz="1400" b="1">
                <a:solidFill>
                  <a:srgbClr val="FFFFFF"/>
                </a:solidFill>
                <a:latin typeface="Outfit"/>
              </a:rPr>
              <a:t>Styling:</a:t>
            </a:r>
            <a:r>
              <a:rPr sz="1400" b="0">
                <a:solidFill>
                  <a:srgbClr val="FFFFFF"/>
                </a:solidFill>
                <a:latin typeface="Outfit"/>
              </a:rPr>
              <a:t> Custom Vanilla CSS zur vollen Designkontrolle und Umsetzung der Glassmorphism-Ästhetik.</a:t>
            </a:r>
          </a:p>
          <a:p>
            <a:pPr>
              <a:spcAft>
                <a:spcPts val="800"/>
              </a:spcAft>
              <a:defRPr sz="1400">
                <a:solidFill>
                  <a:srgbClr val="94A3B8"/>
                </a:solidFill>
                <a:latin typeface="Outfit"/>
              </a:defRPr>
            </a:pPr>
            <a:r>
              <a:t>•  </a:t>
            </a:r>
            <a:r>
              <a:rPr sz="1400" b="1">
                <a:solidFill>
                  <a:srgbClr val="FFFFFF"/>
                </a:solidFill>
                <a:latin typeface="Outfit"/>
              </a:rPr>
              <a:t>Backend:</a:t>
            </a:r>
            <a:r>
              <a:rPr sz="1400" b="0">
                <a:solidFill>
                  <a:srgbClr val="FFFFFF"/>
                </a:solidFill>
                <a:latin typeface="Outfit"/>
              </a:rPr>
              <a:t> PostgreSQL als relationale DB + PostgREST via Docker für eine sofort einsatzbereite REST-Schnittstelle.</a:t>
            </a:r>
          </a:p>
          <a:p>
            <a:pPr>
              <a:spcAft>
                <a:spcPts val="800"/>
              </a:spcAft>
              <a:defRPr sz="1400">
                <a:solidFill>
                  <a:srgbClr val="94A3B8"/>
                </a:solidFill>
                <a:latin typeface="Outfit"/>
              </a:defRPr>
            </a:pPr>
            <a:r>
              <a:t>•  </a:t>
            </a:r>
            <a:r>
              <a:rPr sz="1400" b="1">
                <a:solidFill>
                  <a:srgbClr val="FFFFFF"/>
                </a:solidFill>
                <a:latin typeface="Outfit"/>
              </a:rPr>
              <a:t>Vorteil:</a:t>
            </a:r>
            <a:r>
              <a:rPr sz="1400" b="0">
                <a:solidFill>
                  <a:srgbClr val="FFFFFF"/>
                </a:solidFill>
                <a:latin typeface="Outfit"/>
              </a:rPr>
              <a:t> Extreme Zeitersparnis, da die API automatisch aus dem DB-Schema generiert wird.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20095" cy="731520"/>
          </a:xfrm>
          <a:prstGeom prst="rect">
            <a:avLst/>
          </a:prstGeom>
          <a:noFill/>
        </p:spPr>
        <p:txBody>
          <a:bodyPr wrap="square" lIns="0" tIns="0" rIns="0" bIns="0">
            <a:spAutoFit/>
          </a:bodyPr>
          <a:lstStyle/>
          <a:p>
            <a:pPr>
              <a:defRPr sz="3600" b="1">
                <a:solidFill>
                  <a:srgbClr val="FFFFFF"/>
                </a:solidFill>
                <a:latin typeface="Outfit"/>
              </a:defRPr>
            </a:pPr>
            <a:r>
              <a:t>Herausforderungen: Risiken &amp; Sicherheitskonzept</a:t>
            </a:r>
          </a:p>
        </p:txBody>
      </p:sp>
      <p:sp>
        <p:nvSpPr>
          <p:cNvPr id="3" name="Rectangle 2"/>
          <p:cNvSpPr/>
          <p:nvPr/>
        </p:nvSpPr>
        <p:spPr>
          <a:xfrm>
            <a:off x="685800" y="1188720"/>
            <a:ext cx="10820095"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400800"/>
            <a:ext cx="10820095" cy="274320"/>
          </a:xfrm>
          <a:prstGeom prst="rect">
            <a:avLst/>
          </a:prstGeom>
          <a:noFill/>
        </p:spPr>
        <p:txBody>
          <a:bodyPr wrap="square" lIns="0" tIns="0" rIns="0" bIns="0">
            <a:spAutoFit/>
          </a:bodyPr>
          <a:lstStyle/>
          <a:p>
            <a:pPr>
              <a:defRPr sz="1100">
                <a:solidFill>
                  <a:srgbClr val="94A3B8"/>
                </a:solidFill>
                <a:latin typeface="Outfit"/>
              </a:defRPr>
            </a:pPr>
            <a:r>
              <a:t>MeetPoint — Modul M 306 Abschlusspräsentation</a:t>
            </a:r>
          </a:p>
        </p:txBody>
      </p:sp>
      <p:sp>
        <p:nvSpPr>
          <p:cNvPr id="5" name="Rounded Rectangle 4"/>
          <p:cNvSpPr/>
          <p:nvPr/>
        </p:nvSpPr>
        <p:spPr>
          <a:xfrm>
            <a:off x="685800" y="1645920"/>
            <a:ext cx="5120640" cy="438912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DAS RISIKO (DATA INTEGRITY)</a:t>
            </a:r>
          </a:p>
          <a:p>
            <a:pPr>
              <a:spcAft>
                <a:spcPts val="800"/>
              </a:spcAft>
              <a:defRPr sz="1400">
                <a:solidFill>
                  <a:srgbClr val="94A3B8"/>
                </a:solidFill>
                <a:latin typeface="Outfit"/>
              </a:defRPr>
            </a:pPr>
            <a:r>
              <a:t>•  </a:t>
            </a:r>
            <a:r>
              <a:rPr sz="1400" b="1">
                <a:solidFill>
                  <a:srgbClr val="FFFFFF"/>
                </a:solidFill>
                <a:latin typeface="Outfit"/>
              </a:rPr>
              <a:t>MVP ohne Token-Auth:</a:t>
            </a:r>
            <a:r>
              <a:rPr sz="1400" b="0">
                <a:solidFill>
                  <a:srgbClr val="FFFFFF"/>
                </a:solidFill>
                <a:latin typeface="Outfit"/>
              </a:rPr>
              <a:t> Aufgrund des engen Zeitfensters startet das MVP ohne vollumfängliche JWT-Authentifizierung.</a:t>
            </a:r>
          </a:p>
          <a:p>
            <a:pPr>
              <a:spcAft>
                <a:spcPts val="800"/>
              </a:spcAft>
              <a:defRPr sz="1400">
                <a:solidFill>
                  <a:srgbClr val="94A3B8"/>
                </a:solidFill>
                <a:latin typeface="Outfit"/>
              </a:defRPr>
            </a:pPr>
            <a:r>
              <a:t>•  </a:t>
            </a:r>
            <a:r>
              <a:rPr sz="1400" b="1">
                <a:solidFill>
                  <a:srgbClr val="FFFFFF"/>
                </a:solidFill>
                <a:latin typeface="Outfit"/>
              </a:rPr>
              <a:t>Sicherheitslücke:</a:t>
            </a:r>
            <a:r>
              <a:rPr sz="1400" b="0">
                <a:solidFill>
                  <a:srgbClr val="FFFFFF"/>
                </a:solidFill>
                <a:latin typeface="Outfit"/>
              </a:rPr>
              <a:t> Über direkte API-DELETE-Befehle an PostgREST könnte theoretisch jeder Nutzer fremde Gruppen oder Termine manipulieren/löschen.</a:t>
            </a:r>
          </a:p>
          <a:p>
            <a:pPr>
              <a:spcAft>
                <a:spcPts val="800"/>
              </a:spcAft>
              <a:defRPr sz="1400">
                <a:solidFill>
                  <a:srgbClr val="94A3B8"/>
                </a:solidFill>
                <a:latin typeface="Outfit"/>
              </a:defRPr>
            </a:pPr>
            <a:r>
              <a:t>•  </a:t>
            </a:r>
            <a:r>
              <a:rPr sz="1400" b="1">
                <a:solidFill>
                  <a:srgbClr val="FFFFFF"/>
                </a:solidFill>
                <a:latin typeface="Outfit"/>
              </a:rPr>
              <a:t>Gefahr:</a:t>
            </a:r>
            <a:r>
              <a:rPr sz="1400" b="0">
                <a:solidFill>
                  <a:srgbClr val="FFFFFF"/>
                </a:solidFill>
                <a:latin typeface="Outfit"/>
              </a:rPr>
              <a:t> Böswillige Zerstörung von Daten und Verlust der Datenintegrität.</a:t>
            </a:r>
          </a:p>
        </p:txBody>
      </p:sp>
      <p:sp>
        <p:nvSpPr>
          <p:cNvPr id="7" name="Rounded Rectangle 6"/>
          <p:cNvSpPr/>
          <p:nvPr/>
        </p:nvSpPr>
        <p:spPr>
          <a:xfrm>
            <a:off x="6385255" y="1645920"/>
            <a:ext cx="5120640" cy="4389120"/>
          </a:xfrm>
          <a:prstGeom prst="roundRect">
            <a:avLst/>
          </a:prstGeom>
          <a:solidFill>
            <a:srgbClr val="1E293B"/>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59575"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DIE SICHERHEITSMASSNAHMEN</a:t>
            </a:r>
          </a:p>
          <a:p>
            <a:pPr>
              <a:spcAft>
                <a:spcPts val="800"/>
              </a:spcAft>
              <a:defRPr sz="1400">
                <a:solidFill>
                  <a:srgbClr val="94A3B8"/>
                </a:solidFill>
                <a:latin typeface="Outfit"/>
              </a:defRPr>
            </a:pPr>
            <a:r>
              <a:t>•  </a:t>
            </a:r>
            <a:r>
              <a:rPr sz="1400" b="1">
                <a:solidFill>
                  <a:srgbClr val="FFFFFF"/>
                </a:solidFill>
                <a:latin typeface="Outfit"/>
              </a:rPr>
              <a:t>Gesperrte Endpunkte:</a:t>
            </a:r>
            <a:r>
              <a:rPr sz="1400" b="0">
                <a:solidFill>
                  <a:srgbClr val="FFFFFF"/>
                </a:solidFill>
                <a:latin typeface="Outfit"/>
              </a:rPr>
              <a:t> Direkte DELETE-Rechte auf Tabellenebene wurden der REST-API komplett entzogen.</a:t>
            </a:r>
          </a:p>
          <a:p>
            <a:pPr>
              <a:spcAft>
                <a:spcPts val="800"/>
              </a:spcAft>
              <a:defRPr sz="1400">
                <a:solidFill>
                  <a:srgbClr val="94A3B8"/>
                </a:solidFill>
                <a:latin typeface="Outfit"/>
              </a:defRPr>
            </a:pPr>
            <a:r>
              <a:t>•  </a:t>
            </a:r>
            <a:r>
              <a:rPr sz="1400" b="1">
                <a:solidFill>
                  <a:srgbClr val="FFFFFF"/>
                </a:solidFill>
                <a:latin typeface="Outfit"/>
              </a:rPr>
              <a:t>Datenbank-RPCs:</a:t>
            </a:r>
            <a:r>
              <a:rPr sz="1400" b="0">
                <a:solidFill>
                  <a:srgbClr val="FFFFFF"/>
                </a:solidFill>
                <a:latin typeface="Outfit"/>
              </a:rPr>
              <a:t> Löschen erfolgt ausschliesslich über sichere PostgreSQL Stored Procedures.</a:t>
            </a:r>
          </a:p>
          <a:p>
            <a:pPr>
              <a:spcAft>
                <a:spcPts val="800"/>
              </a:spcAft>
              <a:defRPr sz="1400">
                <a:solidFill>
                  <a:srgbClr val="94A3B8"/>
                </a:solidFill>
                <a:latin typeface="Outfit"/>
              </a:defRPr>
            </a:pPr>
            <a:r>
              <a:t>•  </a:t>
            </a:r>
            <a:r>
              <a:rPr sz="1400" b="1">
                <a:solidFill>
                  <a:srgbClr val="FFFFFF"/>
                </a:solidFill>
                <a:latin typeface="Outfit"/>
              </a:rPr>
              <a:t>Innere Berechtigungsprüfung:</a:t>
            </a:r>
            <a:r>
              <a:rPr sz="1400" b="0">
                <a:solidFill>
                  <a:srgbClr val="FFFFFF"/>
                </a:solidFill>
                <a:latin typeface="Outfit"/>
              </a:rPr>
              <a:t> Die DB-Funktion prüft serverseitig und manipulationssicher, ob der anfragende Nutzer der Ersteller des Eintrags oder der Besitzer der Gruppe ist.</a:t>
            </a:r>
          </a:p>
          <a:p>
            <a:pPr>
              <a:spcAft>
                <a:spcPts val="800"/>
              </a:spcAft>
              <a:defRPr sz="1400">
                <a:solidFill>
                  <a:srgbClr val="94A3B8"/>
                </a:solidFill>
                <a:latin typeface="Outfit"/>
              </a:defRPr>
            </a:pPr>
            <a:r>
              <a:t>•  </a:t>
            </a:r>
            <a:r>
              <a:rPr sz="1400" b="1">
                <a:solidFill>
                  <a:srgbClr val="FFFFFF"/>
                </a:solidFill>
                <a:latin typeface="Outfit"/>
              </a:rPr>
              <a:t>Ergebnis:</a:t>
            </a:r>
            <a:r>
              <a:rPr sz="1400" b="0">
                <a:solidFill>
                  <a:srgbClr val="FFFFFF"/>
                </a:solidFill>
                <a:latin typeface="Outfit"/>
              </a:rPr>
              <a:t> Absolute Sicherheit und Datenintegrität direkt im Datenbanksystem verankert.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20095" cy="731520"/>
          </a:xfrm>
          <a:prstGeom prst="rect">
            <a:avLst/>
          </a:prstGeom>
          <a:noFill/>
        </p:spPr>
        <p:txBody>
          <a:bodyPr wrap="square" lIns="0" tIns="0" rIns="0" bIns="0">
            <a:spAutoFit/>
          </a:bodyPr>
          <a:lstStyle/>
          <a:p>
            <a:pPr>
              <a:defRPr sz="3600" b="1">
                <a:solidFill>
                  <a:srgbClr val="FFFFFF"/>
                </a:solidFill>
                <a:latin typeface="Outfit"/>
              </a:defRPr>
            </a:pPr>
            <a:r>
              <a:t>Produktdemo: MeetPoint live in Aktion</a:t>
            </a:r>
          </a:p>
        </p:txBody>
      </p:sp>
      <p:sp>
        <p:nvSpPr>
          <p:cNvPr id="3" name="Rectangle 2"/>
          <p:cNvSpPr/>
          <p:nvPr/>
        </p:nvSpPr>
        <p:spPr>
          <a:xfrm>
            <a:off x="685800" y="1188720"/>
            <a:ext cx="10820095"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400800"/>
            <a:ext cx="10820095" cy="274320"/>
          </a:xfrm>
          <a:prstGeom prst="rect">
            <a:avLst/>
          </a:prstGeom>
          <a:noFill/>
        </p:spPr>
        <p:txBody>
          <a:bodyPr wrap="square" lIns="0" tIns="0" rIns="0" bIns="0">
            <a:spAutoFit/>
          </a:bodyPr>
          <a:lstStyle/>
          <a:p>
            <a:pPr>
              <a:defRPr sz="1100">
                <a:solidFill>
                  <a:srgbClr val="94A3B8"/>
                </a:solidFill>
                <a:latin typeface="Outfit"/>
              </a:defRPr>
            </a:pPr>
            <a:r>
              <a:t>MeetPoint — Modul M 306 Abschlusspräsentation</a:t>
            </a:r>
          </a:p>
        </p:txBody>
      </p:sp>
      <p:sp>
        <p:nvSpPr>
          <p:cNvPr id="5" name="Rounded Rectangle 4"/>
          <p:cNvSpPr/>
          <p:nvPr/>
        </p:nvSpPr>
        <p:spPr>
          <a:xfrm>
            <a:off x="1371600" y="1645920"/>
            <a:ext cx="9448495" cy="4389120"/>
          </a:xfrm>
          <a:prstGeom prst="roundRect">
            <a:avLst/>
          </a:prstGeom>
          <a:solidFill>
            <a:srgbClr val="1E293B"/>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45920" y="1920240"/>
            <a:ext cx="8899855"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CHOREOGRAFIE UNSERER LIVE-VORSTELLUNG</a:t>
            </a:r>
          </a:p>
          <a:p>
            <a:pPr>
              <a:spcAft>
                <a:spcPts val="800"/>
              </a:spcAft>
              <a:defRPr sz="1400">
                <a:solidFill>
                  <a:srgbClr val="94A3B8"/>
                </a:solidFill>
                <a:latin typeface="Outfit"/>
              </a:defRPr>
            </a:pPr>
            <a:r>
              <a:t>•  </a:t>
            </a:r>
            <a:r>
              <a:rPr sz="1400" b="1">
                <a:solidFill>
                  <a:srgbClr val="FFFFFF"/>
                </a:solidFill>
                <a:latin typeface="Outfit"/>
              </a:rPr>
              <a:t>1. Login &amp; Dashboard:</a:t>
            </a:r>
            <a:r>
              <a:rPr sz="1400" b="0">
                <a:solidFill>
                  <a:srgbClr val="FFFFFF"/>
                </a:solidFill>
                <a:latin typeface="Outfit"/>
              </a:rPr>
              <a:t> Vorstellung des responsiven Dark-Mode UIs und der Sidebar.</a:t>
            </a:r>
          </a:p>
          <a:p>
            <a:pPr>
              <a:spcAft>
                <a:spcPts val="800"/>
              </a:spcAft>
              <a:defRPr sz="1400">
                <a:solidFill>
                  <a:srgbClr val="94A3B8"/>
                </a:solidFill>
                <a:latin typeface="Outfit"/>
              </a:defRPr>
            </a:pPr>
            <a:r>
              <a:t>•  </a:t>
            </a:r>
            <a:r>
              <a:rPr sz="1400" b="1">
                <a:solidFill>
                  <a:srgbClr val="FFFFFF"/>
                </a:solidFill>
                <a:latin typeface="Outfit"/>
              </a:rPr>
              <a:t>2. Gruppen-Erstellung:</a:t>
            </a:r>
            <a:r>
              <a:rPr sz="1400" b="0">
                <a:solidFill>
                  <a:srgbClr val="FFFFFF"/>
                </a:solidFill>
                <a:latin typeface="Outfit"/>
              </a:rPr>
              <a:t> Live-Erstellung einer Gruppe (z.B. 'Sommerferien-Crew').</a:t>
            </a:r>
          </a:p>
          <a:p>
            <a:pPr>
              <a:spcAft>
                <a:spcPts val="800"/>
              </a:spcAft>
              <a:defRPr sz="1400">
                <a:solidFill>
                  <a:srgbClr val="94A3B8"/>
                </a:solidFill>
                <a:latin typeface="Outfit"/>
              </a:defRPr>
            </a:pPr>
            <a:r>
              <a:t>•  </a:t>
            </a:r>
            <a:r>
              <a:rPr sz="1400" b="1">
                <a:solidFill>
                  <a:srgbClr val="FFFFFF"/>
                </a:solidFill>
                <a:latin typeface="Outfit"/>
              </a:rPr>
              <a:t>3. Interessen hinterlegen:</a:t>
            </a:r>
            <a:r>
              <a:rPr sz="1400" b="0">
                <a:solidFill>
                  <a:srgbClr val="FFFFFF"/>
                </a:solidFill>
                <a:latin typeface="Outfit"/>
              </a:rPr>
              <a:t> Schnelles Zuweisen von Interessen zur Bedarfsermittlung.</a:t>
            </a:r>
          </a:p>
          <a:p>
            <a:pPr>
              <a:spcAft>
                <a:spcPts val="800"/>
              </a:spcAft>
              <a:defRPr sz="1400">
                <a:solidFill>
                  <a:srgbClr val="94A3B8"/>
                </a:solidFill>
                <a:latin typeface="Outfit"/>
              </a:defRPr>
            </a:pPr>
            <a:r>
              <a:t>•  </a:t>
            </a:r>
            <a:r>
              <a:rPr sz="1400" b="1">
                <a:solidFill>
                  <a:srgbClr val="FFFFFF"/>
                </a:solidFill>
                <a:latin typeface="Outfit"/>
              </a:rPr>
              <a:t>4. Aktivität planen:</a:t>
            </a:r>
            <a:r>
              <a:rPr sz="1400" b="0">
                <a:solidFill>
                  <a:srgbClr val="FFFFFF"/>
                </a:solidFill>
                <a:latin typeface="Outfit"/>
              </a:rPr>
              <a:t> Neue Aktivität erstellen und mit Interessen-Chips taggen.</a:t>
            </a:r>
          </a:p>
          <a:p>
            <a:pPr>
              <a:spcAft>
                <a:spcPts val="800"/>
              </a:spcAft>
              <a:defRPr sz="1400">
                <a:solidFill>
                  <a:srgbClr val="94A3B8"/>
                </a:solidFill>
                <a:latin typeface="Outfit"/>
              </a:defRPr>
            </a:pPr>
            <a:r>
              <a:t>•  </a:t>
            </a:r>
            <a:r>
              <a:rPr sz="1400" b="1">
                <a:solidFill>
                  <a:srgbClr val="FFFFFF"/>
                </a:solidFill>
                <a:latin typeface="Outfit"/>
              </a:rPr>
              <a:t>5. Termine &amp; Abstimmung:</a:t>
            </a:r>
            <a:r>
              <a:rPr sz="1400" b="0">
                <a:solidFill>
                  <a:srgbClr val="FFFFFF"/>
                </a:solidFill>
                <a:latin typeface="Outfit"/>
              </a:rPr>
              <a:t> Erstellen von Vorschlägen und reaktive Stimmabgabe (👍 / 👎).</a:t>
            </a:r>
          </a:p>
          <a:p>
            <a:pPr>
              <a:spcAft>
                <a:spcPts val="800"/>
              </a:spcAft>
              <a:defRPr sz="1400">
                <a:solidFill>
                  <a:srgbClr val="94A3B8"/>
                </a:solidFill>
                <a:latin typeface="Outfit"/>
              </a:defRPr>
            </a:pPr>
            <a:r>
              <a:t>•  </a:t>
            </a:r>
            <a:r>
              <a:rPr sz="1400" b="1">
                <a:solidFill>
                  <a:srgbClr val="FFFFFF"/>
                </a:solidFill>
                <a:latin typeface="Outfit"/>
              </a:rPr>
              <a:t>6. Live-Auswertung:</a:t>
            </a:r>
            <a:r>
              <a:rPr sz="1400" b="0">
                <a:solidFill>
                  <a:srgbClr val="FFFFFF"/>
                </a:solidFill>
                <a:latin typeface="Outfit"/>
              </a:rPr>
              <a:t> Automatische Markierung des Sieger-Termins mit dem 🏆-Pokal.</a:t>
            </a:r>
          </a:p>
          <a:p>
            <a:pPr>
              <a:spcAft>
                <a:spcPts val="800"/>
              </a:spcAft>
              <a:defRPr sz="1400">
                <a:solidFill>
                  <a:srgbClr val="94A3B8"/>
                </a:solidFill>
                <a:latin typeface="Outfit"/>
              </a:defRPr>
            </a:pPr>
            <a:r>
              <a:t>•  </a:t>
            </a:r>
            <a:r>
              <a:rPr sz="1400" b="1">
                <a:solidFill>
                  <a:srgbClr val="FFFFFF"/>
                </a:solidFill>
                <a:latin typeface="Outfit"/>
              </a:rPr>
              <a:t>7. Berechtigungen:</a:t>
            </a:r>
            <a:r>
              <a:rPr sz="1400" b="0">
                <a:solidFill>
                  <a:srgbClr val="FFFFFF"/>
                </a:solidFill>
                <a:latin typeface="Outfit"/>
              </a:rPr>
              <a:t> Vorführen der Löschfunktion über sichere Modals (nur für berechtigte Personen).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365760"/>
            <a:ext cx="10820095" cy="731520"/>
          </a:xfrm>
          <a:prstGeom prst="rect">
            <a:avLst/>
          </a:prstGeom>
          <a:noFill/>
        </p:spPr>
        <p:txBody>
          <a:bodyPr wrap="square" lIns="0" tIns="0" rIns="0" bIns="0">
            <a:spAutoFit/>
          </a:bodyPr>
          <a:lstStyle/>
          <a:p>
            <a:pPr>
              <a:defRPr sz="3600" b="1">
                <a:solidFill>
                  <a:srgbClr val="FFFFFF"/>
                </a:solidFill>
                <a:latin typeface="Outfit"/>
              </a:defRPr>
            </a:pPr>
            <a:r>
              <a:t>Fazit, Reflexion &amp; Ausblick</a:t>
            </a:r>
          </a:p>
        </p:txBody>
      </p:sp>
      <p:sp>
        <p:nvSpPr>
          <p:cNvPr id="3" name="Rectangle 2"/>
          <p:cNvSpPr/>
          <p:nvPr/>
        </p:nvSpPr>
        <p:spPr>
          <a:xfrm>
            <a:off x="685800" y="1188720"/>
            <a:ext cx="10820095"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400800"/>
            <a:ext cx="10820095" cy="274320"/>
          </a:xfrm>
          <a:prstGeom prst="rect">
            <a:avLst/>
          </a:prstGeom>
          <a:noFill/>
        </p:spPr>
        <p:txBody>
          <a:bodyPr wrap="square" lIns="0" tIns="0" rIns="0" bIns="0">
            <a:spAutoFit/>
          </a:bodyPr>
          <a:lstStyle/>
          <a:p>
            <a:pPr>
              <a:defRPr sz="1100">
                <a:solidFill>
                  <a:srgbClr val="94A3B8"/>
                </a:solidFill>
                <a:latin typeface="Outfit"/>
              </a:defRPr>
            </a:pPr>
            <a:r>
              <a:t>MeetPoint — Modul M 306 Abschlusspräsentation</a:t>
            </a:r>
          </a:p>
        </p:txBody>
      </p:sp>
      <p:sp>
        <p:nvSpPr>
          <p:cNvPr id="5" name="Rounded Rectangle 4"/>
          <p:cNvSpPr/>
          <p:nvPr/>
        </p:nvSpPr>
        <p:spPr>
          <a:xfrm>
            <a:off x="685800" y="1645920"/>
            <a:ext cx="5120640" cy="43891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ZIELERREICHUNG &amp; ARBEITSWEISE</a:t>
            </a:r>
          </a:p>
          <a:p>
            <a:pPr>
              <a:spcAft>
                <a:spcPts val="800"/>
              </a:spcAft>
              <a:defRPr sz="1400">
                <a:solidFill>
                  <a:srgbClr val="94A3B8"/>
                </a:solidFill>
                <a:latin typeface="Outfit"/>
              </a:defRPr>
            </a:pPr>
            <a:r>
              <a:t>•  </a:t>
            </a:r>
            <a:r>
              <a:rPr sz="1400" b="1">
                <a:solidFill>
                  <a:srgbClr val="FFFFFF"/>
                </a:solidFill>
                <a:latin typeface="Outfit"/>
              </a:rPr>
              <a:t>Ziele voll erreicht:</a:t>
            </a:r>
            <a:r>
              <a:rPr sz="1400" b="0">
                <a:solidFill>
                  <a:srgbClr val="FFFFFF"/>
                </a:solidFill>
                <a:latin typeface="Outfit"/>
              </a:rPr>
              <a:t> Ein voll funktionsfähiges MVP wurde erfolgreich implementiert und in der Praxis getestet.</a:t>
            </a:r>
          </a:p>
          <a:p>
            <a:pPr>
              <a:spcAft>
                <a:spcPts val="800"/>
              </a:spcAft>
              <a:defRPr sz="1400">
                <a:solidFill>
                  <a:srgbClr val="94A3B8"/>
                </a:solidFill>
                <a:latin typeface="Outfit"/>
              </a:defRPr>
            </a:pPr>
            <a:r>
              <a:t>•  </a:t>
            </a:r>
            <a:r>
              <a:rPr sz="1400" b="1">
                <a:solidFill>
                  <a:srgbClr val="FFFFFF"/>
                </a:solidFill>
                <a:latin typeface="Outfit"/>
              </a:rPr>
              <a:t>Mehrwert:</a:t>
            </a:r>
            <a:r>
              <a:rPr sz="1400" b="0">
                <a:solidFill>
                  <a:srgbClr val="FFFFFF"/>
                </a:solidFill>
                <a:latin typeface="Outfit"/>
              </a:rPr>
              <a:t> Die strukturierte Terminfindung spart nachweislich Zeit und verhindert Missverständnisse.</a:t>
            </a:r>
          </a:p>
          <a:p>
            <a:pPr>
              <a:spcAft>
                <a:spcPts val="800"/>
              </a:spcAft>
              <a:defRPr sz="1400">
                <a:solidFill>
                  <a:srgbClr val="94A3B8"/>
                </a:solidFill>
                <a:latin typeface="Outfit"/>
              </a:defRPr>
            </a:pPr>
            <a:r>
              <a:t>•  </a:t>
            </a:r>
            <a:r>
              <a:rPr sz="1400" b="1">
                <a:solidFill>
                  <a:srgbClr val="FFFFFF"/>
                </a:solidFill>
                <a:latin typeface="Outfit"/>
              </a:rPr>
              <a:t>Lerneffekt:</a:t>
            </a:r>
            <a:r>
              <a:rPr sz="1400" b="0">
                <a:solidFill>
                  <a:srgbClr val="FFFFFF"/>
                </a:solidFill>
                <a:latin typeface="Outfit"/>
              </a:rPr>
              <a:t> Die relationale Datenbankstruktur und RPC-Absicherung waren eine hervorragende Übung.</a:t>
            </a:r>
          </a:p>
          <a:p>
            <a:pPr>
              <a:spcAft>
                <a:spcPts val="800"/>
              </a:spcAft>
              <a:defRPr sz="1400">
                <a:solidFill>
                  <a:srgbClr val="94A3B8"/>
                </a:solidFill>
                <a:latin typeface="Outfit"/>
              </a:defRPr>
            </a:pPr>
            <a:r>
              <a:t>•  </a:t>
            </a:r>
            <a:r>
              <a:rPr sz="1400" b="1">
                <a:solidFill>
                  <a:srgbClr val="FFFFFF"/>
                </a:solidFill>
                <a:latin typeface="Outfit"/>
              </a:rPr>
              <a:t>Arbeitsmethodik (Ehrliche Reflexion):</a:t>
            </a:r>
            <a:r>
              <a:rPr sz="1400" b="0">
                <a:solidFill>
                  <a:srgbClr val="FFFFFF"/>
                </a:solidFill>
                <a:latin typeface="Outfit"/>
              </a:rPr>
              <a:t> Aufgrund des extrem engen Zeitfensters haben wir gezielt modernste KI-Assistenten (AI-Assisted Development) eingesetzt. Dies ermöglichte schnelles Prototyping, sauberen Code und fehlerfreie SQL-Strukturen.</a:t>
            </a:r>
          </a:p>
        </p:txBody>
      </p:sp>
      <p:sp>
        <p:nvSpPr>
          <p:cNvPr id="7" name="Rounded Rectangle 6"/>
          <p:cNvSpPr/>
          <p:nvPr/>
        </p:nvSpPr>
        <p:spPr>
          <a:xfrm>
            <a:off x="6385255" y="1645920"/>
            <a:ext cx="5120640" cy="4389120"/>
          </a:xfrm>
          <a:prstGeom prst="roundRect">
            <a:avLst/>
          </a:prstGeom>
          <a:solidFill>
            <a:srgbClr val="1E293B"/>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59575" y="1920240"/>
            <a:ext cx="4572000" cy="3840480"/>
          </a:xfrm>
          <a:prstGeom prst="rect">
            <a:avLst/>
          </a:prstGeom>
          <a:noFill/>
        </p:spPr>
        <p:txBody>
          <a:bodyPr wrap="square" lIns="0" tIns="0" rIns="0" bIns="0">
            <a:spAutoFit/>
          </a:bodyPr>
          <a:lstStyle/>
          <a:p>
            <a:pPr>
              <a:spcAft>
                <a:spcPts val="1400"/>
              </a:spcAft>
              <a:defRPr sz="1800" b="1">
                <a:solidFill>
                  <a:srgbClr val="2DD4BF"/>
                </a:solidFill>
                <a:latin typeface="Outfit"/>
              </a:defRPr>
            </a:pPr>
            <a:r>
              <a:t>ZUKÜNFTIGE ERWEITERUNGEN</a:t>
            </a:r>
          </a:p>
          <a:p>
            <a:pPr>
              <a:spcAft>
                <a:spcPts val="800"/>
              </a:spcAft>
              <a:defRPr sz="1400">
                <a:solidFill>
                  <a:srgbClr val="94A3B8"/>
                </a:solidFill>
                <a:latin typeface="Outfit"/>
              </a:defRPr>
            </a:pPr>
            <a:r>
              <a:t>•  </a:t>
            </a:r>
            <a:r>
              <a:rPr sz="1400" b="1">
                <a:solidFill>
                  <a:srgbClr val="FFFFFF"/>
                </a:solidFill>
                <a:latin typeface="Outfit"/>
              </a:rPr>
              <a:t>Sichere Authentifizierung:</a:t>
            </a:r>
            <a:r>
              <a:rPr sz="1400" b="0">
                <a:solidFill>
                  <a:srgbClr val="FFFFFF"/>
                </a:solidFill>
                <a:latin typeface="Outfit"/>
              </a:rPr>
              <a:t> Anbindung einer vollwertigen JWT-Authentifizierung im Backend für Produktivbetrieb.</a:t>
            </a:r>
          </a:p>
          <a:p>
            <a:pPr>
              <a:spcAft>
                <a:spcPts val="800"/>
              </a:spcAft>
              <a:defRPr sz="1400">
                <a:solidFill>
                  <a:srgbClr val="94A3B8"/>
                </a:solidFill>
                <a:latin typeface="Outfit"/>
              </a:defRPr>
            </a:pPr>
            <a:r>
              <a:t>•  </a:t>
            </a:r>
            <a:r>
              <a:rPr sz="1400" b="1">
                <a:solidFill>
                  <a:srgbClr val="FFFFFF"/>
                </a:solidFill>
                <a:latin typeface="Outfit"/>
              </a:rPr>
              <a:t>Kalender-Synchronisation:</a:t>
            </a:r>
            <a:r>
              <a:rPr sz="1400" b="0">
                <a:solidFill>
                  <a:srgbClr val="FFFFFF"/>
                </a:solidFill>
                <a:latin typeface="Outfit"/>
              </a:rPr>
              <a:t> Direkter Export von gefundenen Terminen als .ics-Datei (für Google/Apple Cal).</a:t>
            </a:r>
          </a:p>
          <a:p>
            <a:pPr>
              <a:spcAft>
                <a:spcPts val="800"/>
              </a:spcAft>
              <a:defRPr sz="1400">
                <a:solidFill>
                  <a:srgbClr val="94A3B8"/>
                </a:solidFill>
                <a:latin typeface="Outfit"/>
              </a:defRPr>
            </a:pPr>
            <a:r>
              <a:t>•  </a:t>
            </a:r>
            <a:r>
              <a:rPr sz="1400" b="1">
                <a:solidFill>
                  <a:srgbClr val="FFFFFF"/>
                </a:solidFill>
                <a:latin typeface="Outfit"/>
              </a:rPr>
              <a:t>Benachrichtigungen:</a:t>
            </a:r>
            <a:r>
              <a:rPr sz="1400" b="0">
                <a:solidFill>
                  <a:srgbClr val="FFFFFF"/>
                </a:solidFill>
                <a:latin typeface="Outfit"/>
              </a:rPr>
              <a:t> Automatische Push- oder E-Mail-Dienste bei neuen Terminvorschlägen.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